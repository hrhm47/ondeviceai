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26"/>
  </p:normalViewPr>
  <p:slideViewPr>
    <p:cSldViewPr snapToGrid="0">
      <p:cViewPr>
        <p:scale>
          <a:sx n="131" d="100"/>
          <a:sy n="131" d="100"/>
        </p:scale>
        <p:origin x="3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BD8E9E8-9B25-40F2-9EDD-E46E92539D90}"/>
              </a:ext>
            </a:extLst>
          </p:cNvPr>
          <p:cNvSpPr>
            <a:spLocks noGrp="1"/>
          </p:cNvSpPr>
          <p:nvPr/>
        </p:nvSpPr>
        <p:spPr>
          <a:xfrm>
            <a:off x="0" y="9717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0AE66A-A977-431A-A3B8-C7C1F38B34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FFEC67-A0DA-4112-85BF-7BAE4A2932FD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57150" cy="2095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752A7A-8D48-4187-B1C1-7FC557CA5C6D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THESIS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5E4CF-2D63-49BD-962B-9062187964BC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31432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On-device AI for construction reporting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8B891F-6CE8-4F7D-9000-4A9B382B5E3F}"/>
              </a:ext>
            </a:extLst>
          </p:cNvPr>
          <p:cNvSpPr>
            <a:spLocks noGrp="1"/>
          </p:cNvSpPr>
          <p:nvPr/>
        </p:nvSpPr>
        <p:spPr>
          <a:xfrm>
            <a:off x="533400" y="3257550"/>
            <a:ext cx="2857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Phase 1-4 implementation, testing, model selection, and local extraction architecture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608682-73CF-4771-8A5C-03DA20308EDC}"/>
              </a:ext>
            </a:extLst>
          </p:cNvPr>
          <p:cNvSpPr>
            <a:spLocks noGrp="1"/>
          </p:cNvSpPr>
          <p:nvPr/>
        </p:nvSpPr>
        <p:spPr>
          <a:xfrm>
            <a:off x="4648200" y="1371600"/>
            <a:ext cx="14288" cy="6286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B17F10-AAB8-4552-BA14-1AE9C63B2B3D}"/>
              </a:ext>
            </a:extLst>
          </p:cNvPr>
          <p:cNvSpPr>
            <a:spLocks noGrp="1"/>
          </p:cNvSpPr>
          <p:nvPr/>
        </p:nvSpPr>
        <p:spPr>
          <a:xfrm>
            <a:off x="4800600" y="1428750"/>
            <a:ext cx="161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dirty="0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4D35C-E372-469B-9EC3-BF70BE3753C3}"/>
              </a:ext>
            </a:extLst>
          </p:cNvPr>
          <p:cNvSpPr>
            <a:spLocks noGrp="1"/>
          </p:cNvSpPr>
          <p:nvPr/>
        </p:nvSpPr>
        <p:spPr>
          <a:xfrm>
            <a:off x="4800600" y="18097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ASR FOUNDATION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DB4CC6-4E7C-4C66-BF8B-823E0425B5FF}"/>
              </a:ext>
            </a:extLst>
          </p:cNvPr>
          <p:cNvSpPr>
            <a:spLocks noGrp="1"/>
          </p:cNvSpPr>
          <p:nvPr/>
        </p:nvSpPr>
        <p:spPr>
          <a:xfrm>
            <a:off x="4800600" y="19812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audio capture, VAD, engine registry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685E84-2875-4059-BF88-E2B4FD5A0772}"/>
              </a:ext>
            </a:extLst>
          </p:cNvPr>
          <p:cNvSpPr>
            <a:spLocks noGrp="1"/>
          </p:cNvSpPr>
          <p:nvPr/>
        </p:nvSpPr>
        <p:spPr>
          <a:xfrm>
            <a:off x="7067550" y="1371600"/>
            <a:ext cx="14288" cy="6286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EAE16A-F405-470E-8719-666B9AE2946C}"/>
              </a:ext>
            </a:extLst>
          </p:cNvPr>
          <p:cNvSpPr>
            <a:spLocks noGrp="1"/>
          </p:cNvSpPr>
          <p:nvPr/>
        </p:nvSpPr>
        <p:spPr>
          <a:xfrm>
            <a:off x="7219950" y="1428750"/>
            <a:ext cx="161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08F88E-1E99-457D-9B44-1ADB3C1DA90A}"/>
              </a:ext>
            </a:extLst>
          </p:cNvPr>
          <p:cNvSpPr>
            <a:spLocks noGrp="1"/>
          </p:cNvSpPr>
          <p:nvPr/>
        </p:nvSpPr>
        <p:spPr>
          <a:xfrm>
            <a:off x="7219950" y="18097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MANUAL ASR TESTS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6F857A-5CCD-43F2-ABAD-7B664706F558}"/>
              </a:ext>
            </a:extLst>
          </p:cNvPr>
          <p:cNvSpPr>
            <a:spLocks noGrp="1"/>
          </p:cNvSpPr>
          <p:nvPr/>
        </p:nvSpPr>
        <p:spPr>
          <a:xfrm>
            <a:off x="7219950" y="19812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40 EN/FI cases across 3 noise sessions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F45866-8166-43A8-A5C1-31922B4DA26C}"/>
              </a:ext>
            </a:extLst>
          </p:cNvPr>
          <p:cNvSpPr>
            <a:spLocks noGrp="1"/>
          </p:cNvSpPr>
          <p:nvPr/>
        </p:nvSpPr>
        <p:spPr>
          <a:xfrm>
            <a:off x="9486900" y="1371600"/>
            <a:ext cx="14288" cy="62865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F5B79F-D9CE-4AE0-BFFB-235AF91C6050}"/>
              </a:ext>
            </a:extLst>
          </p:cNvPr>
          <p:cNvSpPr>
            <a:spLocks noGrp="1"/>
          </p:cNvSpPr>
          <p:nvPr/>
        </p:nvSpPr>
        <p:spPr>
          <a:xfrm>
            <a:off x="9639300" y="1428750"/>
            <a:ext cx="161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990D52-3197-463E-B91E-E1F7F2FC5186}"/>
              </a:ext>
            </a:extLst>
          </p:cNvPr>
          <p:cNvSpPr>
            <a:spLocks noGrp="1"/>
          </p:cNvSpPr>
          <p:nvPr/>
        </p:nvSpPr>
        <p:spPr>
          <a:xfrm>
            <a:off x="9639300" y="18097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NATIVE IOS PATH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EC14A4-AB48-4330-B8F8-66641C30F86C}"/>
              </a:ext>
            </a:extLst>
          </p:cNvPr>
          <p:cNvSpPr>
            <a:spLocks noGrp="1"/>
          </p:cNvSpPr>
          <p:nvPr/>
        </p:nvSpPr>
        <p:spPr>
          <a:xfrm>
            <a:off x="9639300" y="19812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configurable Apple Speech, metrics, privacy policy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A7E9BC-E3E8-4727-8E94-0B504FFE439B}"/>
              </a:ext>
            </a:extLst>
          </p:cNvPr>
          <p:cNvSpPr>
            <a:spLocks noGrp="1"/>
          </p:cNvSpPr>
          <p:nvPr/>
        </p:nvSpPr>
        <p:spPr>
          <a:xfrm>
            <a:off x="4648200" y="4038600"/>
            <a:ext cx="14288" cy="62865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BF2151-B4EE-415F-9686-3F3F616B79A4}"/>
              </a:ext>
            </a:extLst>
          </p:cNvPr>
          <p:cNvSpPr>
            <a:spLocks noGrp="1"/>
          </p:cNvSpPr>
          <p:nvPr/>
        </p:nvSpPr>
        <p:spPr>
          <a:xfrm>
            <a:off x="4800600" y="4095750"/>
            <a:ext cx="161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8A7F55-D4E6-4C4C-B7DE-5C891009D5C2}"/>
              </a:ext>
            </a:extLst>
          </p:cNvPr>
          <p:cNvSpPr>
            <a:spLocks noGrp="1"/>
          </p:cNvSpPr>
          <p:nvPr/>
        </p:nvSpPr>
        <p:spPr>
          <a:xfrm>
            <a:off x="4800600" y="44767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LOCAL EXTRACTION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F77326-42B6-49AD-AE76-3F6A1534A839}"/>
              </a:ext>
            </a:extLst>
          </p:cNvPr>
          <p:cNvSpPr>
            <a:spLocks noGrp="1"/>
          </p:cNvSpPr>
          <p:nvPr/>
        </p:nvSpPr>
        <p:spPr>
          <a:xfrm>
            <a:off x="4800600" y="46482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Qwen GGUF + deterministic validation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4538E7-04FA-429E-9BE1-27B74318EC5B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E63081-AA24-479E-B432-65A3E0EEB77B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endParaRPr sz="638" b="0" dirty="0">
              <a:solidFill>
                <a:srgbClr val="5F687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EA567E-D77E-4C48-BAF2-87BB4047F1D4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34029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F584188-453E-43D4-8E18-165F89B589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1083B4-008D-48AD-8C0B-4D2FD16138B8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8DF249-6BB5-4840-A6D8-0A9B6F2FAC24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PRESENTATION PLAN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06A4A2-1F09-4436-8ADE-CFB89A0AC98C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deck follows the prototype as it matured from audio capture to validated task drafts.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8198C2-6F99-449B-B5C5-143AC19B615D}"/>
              </a:ext>
            </a:extLst>
          </p:cNvPr>
          <p:cNvSpPr>
            <a:spLocks noGrp="1"/>
          </p:cNvSpPr>
          <p:nvPr/>
        </p:nvSpPr>
        <p:spPr>
          <a:xfrm>
            <a:off x="781050" y="2343150"/>
            <a:ext cx="2000250" cy="6667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279CED-0FF7-4690-959D-BB20DBFCE5E1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968A9B-4275-4195-96BC-6E09D7B612CB}"/>
              </a:ext>
            </a:extLst>
          </p:cNvPr>
          <p:cNvSpPr>
            <a:spLocks noGrp="1"/>
          </p:cNvSpPr>
          <p:nvPr/>
        </p:nvSpPr>
        <p:spPr>
          <a:xfrm>
            <a:off x="647700" y="3257550"/>
            <a:ext cx="2266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Implementation foundation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19FD42-BB24-41B3-BF4F-07D3CB6BF6CA}"/>
              </a:ext>
            </a:extLst>
          </p:cNvPr>
          <p:cNvSpPr>
            <a:spLocks noGrp="1"/>
          </p:cNvSpPr>
          <p:nvPr/>
        </p:nvSpPr>
        <p:spPr>
          <a:xfrm>
            <a:off x="628650" y="3867150"/>
            <a:ext cx="23050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Record or stream speech, configure audio, route engines, capture timing metrics.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49E9AC-FE61-479A-A03E-8589CF84C1FD}"/>
              </a:ext>
            </a:extLst>
          </p:cNvPr>
          <p:cNvSpPr>
            <a:spLocks noGrp="1"/>
          </p:cNvSpPr>
          <p:nvPr/>
        </p:nvSpPr>
        <p:spPr>
          <a:xfrm>
            <a:off x="2838450" y="2686050"/>
            <a:ext cx="495300" cy="14288"/>
          </a:xfrm>
          <a:prstGeom prst="rect">
            <a:avLst/>
          </a:prstGeom>
          <a:solidFill>
            <a:srgbClr val="5F6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BEF150-1182-4EC6-BFEE-6B78CA344139}"/>
              </a:ext>
            </a:extLst>
          </p:cNvPr>
          <p:cNvSpPr>
            <a:spLocks noGrp="1"/>
          </p:cNvSpPr>
          <p:nvPr/>
        </p:nvSpPr>
        <p:spPr>
          <a:xfrm>
            <a:off x="3314700" y="2581275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E4A118-212F-44D8-ACAC-3F38867C5BF0}"/>
              </a:ext>
            </a:extLst>
          </p:cNvPr>
          <p:cNvSpPr>
            <a:spLocks noGrp="1"/>
          </p:cNvSpPr>
          <p:nvPr/>
        </p:nvSpPr>
        <p:spPr>
          <a:xfrm>
            <a:off x="3562350" y="2343150"/>
            <a:ext cx="2000250" cy="6667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31F824-1859-4618-B875-23A20FBD4235}"/>
              </a:ext>
            </a:extLst>
          </p:cNvPr>
          <p:cNvSpPr>
            <a:spLocks noGrp="1"/>
          </p:cNvSpPr>
          <p:nvPr/>
        </p:nvSpPr>
        <p:spPr>
          <a:xfrm>
            <a:off x="3562350" y="249555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236AD5-5024-4EB0-AAD0-238855521B87}"/>
              </a:ext>
            </a:extLst>
          </p:cNvPr>
          <p:cNvSpPr>
            <a:spLocks noGrp="1"/>
          </p:cNvSpPr>
          <p:nvPr/>
        </p:nvSpPr>
        <p:spPr>
          <a:xfrm>
            <a:off x="3429000" y="3257550"/>
            <a:ext cx="2266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Manual testing tool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3823C1-6B41-4EF9-AF83-BD8939232DDE}"/>
              </a:ext>
            </a:extLst>
          </p:cNvPr>
          <p:cNvSpPr>
            <a:spLocks noGrp="1"/>
          </p:cNvSpPr>
          <p:nvPr/>
        </p:nvSpPr>
        <p:spPr>
          <a:xfrm>
            <a:off x="3409950" y="3867150"/>
            <a:ext cx="23050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Run controlled EN/FI construction sentences across quiet, moderate, and hard noise.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002B24-414F-46FE-9A25-FB39ED44723E}"/>
              </a:ext>
            </a:extLst>
          </p:cNvPr>
          <p:cNvSpPr>
            <a:spLocks noGrp="1"/>
          </p:cNvSpPr>
          <p:nvPr/>
        </p:nvSpPr>
        <p:spPr>
          <a:xfrm>
            <a:off x="5619750" y="2686050"/>
            <a:ext cx="495300" cy="14288"/>
          </a:xfrm>
          <a:prstGeom prst="rect">
            <a:avLst/>
          </a:prstGeom>
          <a:solidFill>
            <a:srgbClr val="5F6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33557A-C9D6-4A2B-91E6-82B1BBED9A54}"/>
              </a:ext>
            </a:extLst>
          </p:cNvPr>
          <p:cNvSpPr>
            <a:spLocks noGrp="1"/>
          </p:cNvSpPr>
          <p:nvPr/>
        </p:nvSpPr>
        <p:spPr>
          <a:xfrm>
            <a:off x="6096000" y="2581275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DED4F8-24B8-43B8-BEC3-D5974A95D429}"/>
              </a:ext>
            </a:extLst>
          </p:cNvPr>
          <p:cNvSpPr>
            <a:spLocks noGrp="1"/>
          </p:cNvSpPr>
          <p:nvPr/>
        </p:nvSpPr>
        <p:spPr>
          <a:xfrm>
            <a:off x="6343650" y="2343150"/>
            <a:ext cx="2000250" cy="66675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C61F2E-F4FD-46FF-971D-69CD487A6BCE}"/>
              </a:ext>
            </a:extLst>
          </p:cNvPr>
          <p:cNvSpPr>
            <a:spLocks noGrp="1"/>
          </p:cNvSpPr>
          <p:nvPr/>
        </p:nvSpPr>
        <p:spPr>
          <a:xfrm>
            <a:off x="6343650" y="249555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55DB99-8835-4F64-9B74-BE3B383BB34A}"/>
              </a:ext>
            </a:extLst>
          </p:cNvPr>
          <p:cNvSpPr>
            <a:spLocks noGrp="1"/>
          </p:cNvSpPr>
          <p:nvPr/>
        </p:nvSpPr>
        <p:spPr>
          <a:xfrm>
            <a:off x="6210300" y="3257550"/>
            <a:ext cx="2266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Selected ASR path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05CFA4-A1F3-4313-8F21-38CDE3890994}"/>
              </a:ext>
            </a:extLst>
          </p:cNvPr>
          <p:cNvSpPr>
            <a:spLocks noGrp="1"/>
          </p:cNvSpPr>
          <p:nvPr/>
        </p:nvSpPr>
        <p:spPr>
          <a:xfrm>
            <a:off x="6191250" y="3867150"/>
            <a:ext cx="23050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Advance Native iOS ASR because the reporting workflow needs live feedback.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0A572F-80C5-4F6E-A3C6-013AFA849E3A}"/>
              </a:ext>
            </a:extLst>
          </p:cNvPr>
          <p:cNvSpPr>
            <a:spLocks noGrp="1"/>
          </p:cNvSpPr>
          <p:nvPr/>
        </p:nvSpPr>
        <p:spPr>
          <a:xfrm>
            <a:off x="8401050" y="2686050"/>
            <a:ext cx="495300" cy="14288"/>
          </a:xfrm>
          <a:prstGeom prst="rect">
            <a:avLst/>
          </a:prstGeom>
          <a:solidFill>
            <a:srgbClr val="5F6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6DA28C-85CB-401D-9668-BC2EFD5F36E7}"/>
              </a:ext>
            </a:extLst>
          </p:cNvPr>
          <p:cNvSpPr>
            <a:spLocks noGrp="1"/>
          </p:cNvSpPr>
          <p:nvPr/>
        </p:nvSpPr>
        <p:spPr>
          <a:xfrm>
            <a:off x="8877300" y="2581275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6559DD-D15F-4123-BA5A-813378308C15}"/>
              </a:ext>
            </a:extLst>
          </p:cNvPr>
          <p:cNvSpPr>
            <a:spLocks noGrp="1"/>
          </p:cNvSpPr>
          <p:nvPr/>
        </p:nvSpPr>
        <p:spPr>
          <a:xfrm>
            <a:off x="9124950" y="2343150"/>
            <a:ext cx="2000250" cy="66675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BEA335-D183-4F95-89C3-4BE28C668495}"/>
              </a:ext>
            </a:extLst>
          </p:cNvPr>
          <p:cNvSpPr>
            <a:spLocks noGrp="1"/>
          </p:cNvSpPr>
          <p:nvPr/>
        </p:nvSpPr>
        <p:spPr>
          <a:xfrm>
            <a:off x="9124950" y="249555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9B325A-C187-4032-B721-D73BCBBC7F96}"/>
              </a:ext>
            </a:extLst>
          </p:cNvPr>
          <p:cNvSpPr>
            <a:spLocks noGrp="1"/>
          </p:cNvSpPr>
          <p:nvPr/>
        </p:nvSpPr>
        <p:spPr>
          <a:xfrm>
            <a:off x="8991600" y="3257550"/>
            <a:ext cx="2266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Local LLM extraction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72C1DC-C49C-49D0-A209-7687F06B22AA}"/>
              </a:ext>
            </a:extLst>
          </p:cNvPr>
          <p:cNvSpPr>
            <a:spLocks noGrp="1"/>
          </p:cNvSpPr>
          <p:nvPr/>
        </p:nvSpPr>
        <p:spPr>
          <a:xfrm>
            <a:off x="8972550" y="3867150"/>
            <a:ext cx="23050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Convert transcript into a safe General Task Form draft with local data grounding.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5AA150-C6FE-4086-B999-6FF4FBF42AF3}"/>
              </a:ext>
            </a:extLst>
          </p:cNvPr>
          <p:cNvSpPr>
            <a:spLocks noGrp="1"/>
          </p:cNvSpPr>
          <p:nvPr/>
        </p:nvSpPr>
        <p:spPr>
          <a:xfrm>
            <a:off x="1219200" y="5410200"/>
            <a:ext cx="9753600" cy="514350"/>
          </a:xfrm>
          <a:prstGeom prst="rect">
            <a:avLst/>
          </a:prstGeom>
          <a:solidFill>
            <a:srgbClr val="FBF8F1"/>
          </a:solidFill>
          <a:ln w="9525">
            <a:solidFill>
              <a:srgbClr val="D8D0C2"/>
            </a:solidFill>
            <a:prstDash val="solid"/>
          </a:ln>
        </p:spPr>
        <p:txBody>
          <a:bodyPr lIns="114300" tIns="95250" rIns="114300" bIns="95250" anchor="t"/>
          <a:lstStyle/>
          <a:p>
            <a:pPr algn="l">
              <a:defRPr sz="90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What is deliberately not shown as achieved: numeric aggregate ASR rankings, Apple ASR fine-tuning, custom noise removal, cloud LLM calls, embeddings/vector search, GPS/photos/task submission.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26025E-5D42-4F0F-B417-702BFCF4B347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B1A061-C86E-4783-BCC1-7DA905864F02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Source: local prototype docs and implementation files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D54AC4-BCFF-4AEA-9E16-3BA9ABEE8A36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8284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CDD03D71-8E6E-40F8-BF95-4D37A88619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D16F47-7093-4D19-92D7-3B8C74E5F3CF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CE575E-7411-4002-8AF6-25BDBBA3F212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PHASE 1 IMPLEMENTATION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142A76-D118-477E-A8E5-801A4F0BA0FF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Phase 1 built the ASR foundation before any extraction logic existed.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E6F98B-0FA4-4522-B59A-AF21D9AB6E8C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1428750" cy="838200"/>
          </a:xfrm>
          <a:prstGeom prst="rect">
            <a:avLst/>
          </a:prstGeom>
          <a:solidFill>
            <a:srgbClr val="E5F3E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879CD6-33F9-41E0-A547-F2C812C1B6E9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Microphone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435212-7C97-4276-9818-155DA68D99D7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expo-audio or PCM live stream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FDCA5A-60B2-4D83-BE2D-852F5A5F0617}"/>
              </a:ext>
            </a:extLst>
          </p:cNvPr>
          <p:cNvSpPr>
            <a:spLocks noGrp="1"/>
          </p:cNvSpPr>
          <p:nvPr/>
        </p:nvSpPr>
        <p:spPr>
          <a:xfrm>
            <a:off x="2019300" y="2990850"/>
            <a:ext cx="247650" cy="14288"/>
          </a:xfrm>
          <a:prstGeom prst="rect">
            <a:avLst/>
          </a:prstGeom>
          <a:solidFill>
            <a:srgbClr val="5F6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EEDFD2-B3D7-42DF-83FB-5724BB5E407D}"/>
              </a:ext>
            </a:extLst>
          </p:cNvPr>
          <p:cNvSpPr>
            <a:spLocks noGrp="1"/>
          </p:cNvSpPr>
          <p:nvPr/>
        </p:nvSpPr>
        <p:spPr>
          <a:xfrm>
            <a:off x="2247900" y="2886075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310E65-2411-441B-AA87-5C20228BCED2}"/>
              </a:ext>
            </a:extLst>
          </p:cNvPr>
          <p:cNvSpPr>
            <a:spLocks noGrp="1"/>
          </p:cNvSpPr>
          <p:nvPr/>
        </p:nvSpPr>
        <p:spPr>
          <a:xfrm>
            <a:off x="2419350" y="2571750"/>
            <a:ext cx="1428750" cy="838200"/>
          </a:xfrm>
          <a:prstGeom prst="rect">
            <a:avLst/>
          </a:prstGeom>
          <a:solidFill>
            <a:srgbClr val="E7EEF8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2F0083-3ADB-4280-A8AE-3C0BA98F7B6B}"/>
              </a:ext>
            </a:extLst>
          </p:cNvPr>
          <p:cNvSpPr>
            <a:spLocks noGrp="1"/>
          </p:cNvSpPr>
          <p:nvPr/>
        </p:nvSpPr>
        <p:spPr>
          <a:xfrm>
            <a:off x="2552700" y="266700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Audio contract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1949BE-385B-4926-AB18-9CA482F4C2AB}"/>
              </a:ext>
            </a:extLst>
          </p:cNvPr>
          <p:cNvSpPr>
            <a:spLocks noGrp="1"/>
          </p:cNvSpPr>
          <p:nvPr/>
        </p:nvSpPr>
        <p:spPr>
          <a:xfrm>
            <a:off x="2552700" y="295275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16 kHz, mono; WAV/PCM on iOS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75539A-0DD4-49B0-A70F-BE0F3C2CC881}"/>
              </a:ext>
            </a:extLst>
          </p:cNvPr>
          <p:cNvSpPr>
            <a:spLocks noGrp="1"/>
          </p:cNvSpPr>
          <p:nvPr/>
        </p:nvSpPr>
        <p:spPr>
          <a:xfrm>
            <a:off x="3886200" y="2990850"/>
            <a:ext cx="247650" cy="14288"/>
          </a:xfrm>
          <a:prstGeom prst="rect">
            <a:avLst/>
          </a:prstGeom>
          <a:solidFill>
            <a:srgbClr val="5F6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32F666-62A9-48D8-B611-F51FD64D831B}"/>
              </a:ext>
            </a:extLst>
          </p:cNvPr>
          <p:cNvSpPr>
            <a:spLocks noGrp="1"/>
          </p:cNvSpPr>
          <p:nvPr/>
        </p:nvSpPr>
        <p:spPr>
          <a:xfrm>
            <a:off x="4114800" y="2886075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78A5A-9694-44BE-9FCB-CB2818C34BF9}"/>
              </a:ext>
            </a:extLst>
          </p:cNvPr>
          <p:cNvSpPr>
            <a:spLocks noGrp="1"/>
          </p:cNvSpPr>
          <p:nvPr/>
        </p:nvSpPr>
        <p:spPr>
          <a:xfrm>
            <a:off x="4286250" y="2571750"/>
            <a:ext cx="1428750" cy="838200"/>
          </a:xfrm>
          <a:prstGeom prst="rect">
            <a:avLst/>
          </a:prstGeom>
          <a:solidFill>
            <a:srgbClr val="F5E7C8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0D4872-AB14-425B-B47B-3A81D75D2B41}"/>
              </a:ext>
            </a:extLst>
          </p:cNvPr>
          <p:cNvSpPr>
            <a:spLocks noGrp="1"/>
          </p:cNvSpPr>
          <p:nvPr/>
        </p:nvSpPr>
        <p:spPr>
          <a:xfrm>
            <a:off x="4419600" y="266700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VAD layer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7A19B1-4147-4A10-8021-14EDD25FA5A0}"/>
              </a:ext>
            </a:extLst>
          </p:cNvPr>
          <p:cNvSpPr>
            <a:spLocks noGrp="1"/>
          </p:cNvSpPr>
          <p:nvPr/>
        </p:nvSpPr>
        <p:spPr>
          <a:xfrm>
            <a:off x="4419600" y="295275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energy threshold and segment buffering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5B21D2-F626-4608-BE03-65AB797B5C0D}"/>
              </a:ext>
            </a:extLst>
          </p:cNvPr>
          <p:cNvSpPr>
            <a:spLocks noGrp="1"/>
          </p:cNvSpPr>
          <p:nvPr/>
        </p:nvSpPr>
        <p:spPr>
          <a:xfrm>
            <a:off x="5753100" y="2990850"/>
            <a:ext cx="247650" cy="14288"/>
          </a:xfrm>
          <a:prstGeom prst="rect">
            <a:avLst/>
          </a:prstGeom>
          <a:solidFill>
            <a:srgbClr val="5F6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688404-9468-4A0D-A315-29BE816D87FD}"/>
              </a:ext>
            </a:extLst>
          </p:cNvPr>
          <p:cNvSpPr>
            <a:spLocks noGrp="1"/>
          </p:cNvSpPr>
          <p:nvPr/>
        </p:nvSpPr>
        <p:spPr>
          <a:xfrm>
            <a:off x="5981700" y="2886075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08759F-230B-44E0-9D16-E698B7F03EB8}"/>
              </a:ext>
            </a:extLst>
          </p:cNvPr>
          <p:cNvSpPr>
            <a:spLocks noGrp="1"/>
          </p:cNvSpPr>
          <p:nvPr/>
        </p:nvSpPr>
        <p:spPr>
          <a:xfrm>
            <a:off x="6153150" y="2571750"/>
            <a:ext cx="1428750" cy="838200"/>
          </a:xfrm>
          <a:prstGeom prst="rect">
            <a:avLst/>
          </a:prstGeom>
          <a:solidFill>
            <a:srgbClr val="EDE4F8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B6C1DE-D98B-4C98-B047-BB5802327B7A}"/>
              </a:ext>
            </a:extLst>
          </p:cNvPr>
          <p:cNvSpPr>
            <a:spLocks noGrp="1"/>
          </p:cNvSpPr>
          <p:nvPr/>
        </p:nvSpPr>
        <p:spPr>
          <a:xfrm>
            <a:off x="6286500" y="266700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ASR engine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909C7A-DDEE-4725-9136-0B7DAE511D66}"/>
              </a:ext>
            </a:extLst>
          </p:cNvPr>
          <p:cNvSpPr>
            <a:spLocks noGrp="1"/>
          </p:cNvSpPr>
          <p:nvPr/>
        </p:nvSpPr>
        <p:spPr>
          <a:xfrm>
            <a:off x="6286500" y="295275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Native, Whisper, Qwen path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6B2BD2-756D-4695-BBAC-1D07E2B5AF0F}"/>
              </a:ext>
            </a:extLst>
          </p:cNvPr>
          <p:cNvSpPr>
            <a:spLocks noGrp="1"/>
          </p:cNvSpPr>
          <p:nvPr/>
        </p:nvSpPr>
        <p:spPr>
          <a:xfrm>
            <a:off x="7620000" y="2990850"/>
            <a:ext cx="247650" cy="14288"/>
          </a:xfrm>
          <a:prstGeom prst="rect">
            <a:avLst/>
          </a:prstGeom>
          <a:solidFill>
            <a:srgbClr val="5F6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296DF3-9CEA-434C-B2EF-6DA2ADC6CCE6}"/>
              </a:ext>
            </a:extLst>
          </p:cNvPr>
          <p:cNvSpPr>
            <a:spLocks noGrp="1"/>
          </p:cNvSpPr>
          <p:nvPr/>
        </p:nvSpPr>
        <p:spPr>
          <a:xfrm>
            <a:off x="7848600" y="2886075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4EAC5C-CFD2-4D12-A1D9-B82FA0EA0B9A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1428750" cy="838200"/>
          </a:xfrm>
          <a:prstGeom prst="rect">
            <a:avLst/>
          </a:prstGeom>
          <a:solidFill>
            <a:srgbClr val="F3F4F6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D1FB9B-B676-4C2E-A85F-1566382FE600}"/>
              </a:ext>
            </a:extLst>
          </p:cNvPr>
          <p:cNvSpPr>
            <a:spLocks noGrp="1"/>
          </p:cNvSpPr>
          <p:nvPr/>
        </p:nvSpPr>
        <p:spPr>
          <a:xfrm>
            <a:off x="8153400" y="266700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Result object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1FBCE0-58EA-4256-BF56-4882F0987F4E}"/>
              </a:ext>
            </a:extLst>
          </p:cNvPr>
          <p:cNvSpPr>
            <a:spLocks noGrp="1"/>
          </p:cNvSpPr>
          <p:nvPr/>
        </p:nvSpPr>
        <p:spPr>
          <a:xfrm>
            <a:off x="8153400" y="295275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standard TranscriptionResult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4F03A5-3F02-420C-8162-411D3E2F2288}"/>
              </a:ext>
            </a:extLst>
          </p:cNvPr>
          <p:cNvSpPr>
            <a:spLocks noGrp="1"/>
          </p:cNvSpPr>
          <p:nvPr/>
        </p:nvSpPr>
        <p:spPr>
          <a:xfrm>
            <a:off x="9486900" y="2990850"/>
            <a:ext cx="247650" cy="14288"/>
          </a:xfrm>
          <a:prstGeom prst="rect">
            <a:avLst/>
          </a:prstGeom>
          <a:solidFill>
            <a:srgbClr val="5F6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80052F-B17A-44DB-B8F0-D034F28B1DD8}"/>
              </a:ext>
            </a:extLst>
          </p:cNvPr>
          <p:cNvSpPr>
            <a:spLocks noGrp="1"/>
          </p:cNvSpPr>
          <p:nvPr/>
        </p:nvSpPr>
        <p:spPr>
          <a:xfrm>
            <a:off x="9715500" y="2886075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23943A-68D2-4F30-B073-D81C8A360AAF}"/>
              </a:ext>
            </a:extLst>
          </p:cNvPr>
          <p:cNvSpPr>
            <a:spLocks noGrp="1"/>
          </p:cNvSpPr>
          <p:nvPr/>
        </p:nvSpPr>
        <p:spPr>
          <a:xfrm>
            <a:off x="9886950" y="2571750"/>
            <a:ext cx="142875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4DB326-AFC9-4C65-BF89-E12712A8F56F}"/>
              </a:ext>
            </a:extLst>
          </p:cNvPr>
          <p:cNvSpPr>
            <a:spLocks noGrp="1"/>
          </p:cNvSpPr>
          <p:nvPr/>
        </p:nvSpPr>
        <p:spPr>
          <a:xfrm>
            <a:off x="10020300" y="266700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Local storage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3D3F73A-DD94-4B00-BA11-E7816E37E4F5}"/>
              </a:ext>
            </a:extLst>
          </p:cNvPr>
          <p:cNvSpPr>
            <a:spLocks noGrp="1"/>
          </p:cNvSpPr>
          <p:nvPr/>
        </p:nvSpPr>
        <p:spPr>
          <a:xfrm>
            <a:off x="10020300" y="295275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asr-results/results.json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DC24DA-1CA2-4B2B-9B87-D0B7D7C656F7}"/>
              </a:ext>
            </a:extLst>
          </p:cNvPr>
          <p:cNvSpPr>
            <a:spLocks noGrp="1"/>
          </p:cNvSpPr>
          <p:nvPr/>
        </p:nvSpPr>
        <p:spPr>
          <a:xfrm>
            <a:off x="933450" y="4305300"/>
            <a:ext cx="2857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A0BDA7F-B021-4DD2-9146-0FAB0D83D37C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2590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VAD is segmentation, not streaming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301EA93-7317-4285-B07E-B75A58EB1390}"/>
              </a:ext>
            </a:extLst>
          </p:cNvPr>
          <p:cNvSpPr>
            <a:spLocks noGrp="1"/>
          </p:cNvSpPr>
          <p:nvPr/>
        </p:nvSpPr>
        <p:spPr>
          <a:xfrm>
            <a:off x="1066800" y="4686300"/>
            <a:ext cx="2590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VAD closes speech segments for offline engines; it does not create partial-token streaming.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EDF11A1-09A8-4DF5-B086-BDDD651FF163}"/>
              </a:ext>
            </a:extLst>
          </p:cNvPr>
          <p:cNvSpPr>
            <a:spLocks noGrp="1"/>
          </p:cNvSpPr>
          <p:nvPr/>
        </p:nvSpPr>
        <p:spPr>
          <a:xfrm>
            <a:off x="4381500" y="4305300"/>
            <a:ext cx="2857500" cy="990600"/>
          </a:xfrm>
          <a:prstGeom prst="rect">
            <a:avLst/>
          </a:prstGeom>
          <a:solidFill>
            <a:srgbClr val="E7EEF8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759D73-6E7F-4B8A-90FA-2280FE68B6F0}"/>
              </a:ext>
            </a:extLst>
          </p:cNvPr>
          <p:cNvSpPr>
            <a:spLocks noGrp="1"/>
          </p:cNvSpPr>
          <p:nvPr/>
        </p:nvSpPr>
        <p:spPr>
          <a:xfrm>
            <a:off x="4514850" y="4400550"/>
            <a:ext cx="2590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One result schema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870BC01-48B3-45FC-BD0F-FEB1787922FE}"/>
              </a:ext>
            </a:extLst>
          </p:cNvPr>
          <p:cNvSpPr>
            <a:spLocks noGrp="1"/>
          </p:cNvSpPr>
          <p:nvPr/>
        </p:nvSpPr>
        <p:spPr>
          <a:xfrm>
            <a:off x="4514850" y="4686300"/>
            <a:ext cx="2590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Every attempt stores model, language, runtime mode, durations, TTFS, transcript, segments, sample rate, audio URI, and errors.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93706DE-2093-4183-9698-203C40C94DD3}"/>
              </a:ext>
            </a:extLst>
          </p:cNvPr>
          <p:cNvSpPr>
            <a:spLocks noGrp="1"/>
          </p:cNvSpPr>
          <p:nvPr/>
        </p:nvSpPr>
        <p:spPr>
          <a:xfrm>
            <a:off x="7829550" y="4305300"/>
            <a:ext cx="2857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9CE50D6-6922-4E4F-B907-A61ABBDDE169}"/>
              </a:ext>
            </a:extLst>
          </p:cNvPr>
          <p:cNvSpPr>
            <a:spLocks noGrp="1"/>
          </p:cNvSpPr>
          <p:nvPr/>
        </p:nvSpPr>
        <p:spPr>
          <a:xfrm>
            <a:off x="7962900" y="4400550"/>
            <a:ext cx="2590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Failure is data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B9DDBE-9D53-4AA4-AEED-B06FF166130E}"/>
              </a:ext>
            </a:extLst>
          </p:cNvPr>
          <p:cNvSpPr>
            <a:spLocks noGrp="1"/>
          </p:cNvSpPr>
          <p:nvPr/>
        </p:nvSpPr>
        <p:spPr>
          <a:xfrm>
            <a:off x="7962900" y="4686300"/>
            <a:ext cx="2590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Unsupported or missing-model attempts are saved instead of crashing the test flow.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13D0930-3CBF-4CB1-A54E-56600360095E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B53728C-FB41-4333-81C1-D211FDF5A0A0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Sources: phase-1 doc, useAsrController.ts, vadService.ts, asr.types.ts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BAA43E7-0911-4C60-811D-53D52F419144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22268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975F537A-5FAE-4F30-ADC4-0FB6D4B25B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C6E212-42C8-429D-81EE-C44D303FC380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9F2185-1D74-48F4-B2E1-AD353867743C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PHASE 1 AUDIO SIZE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31CAD6-9E1D-4DF7-9949-ACC615DFD600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audio path is sized around 16 kHz mono PCM, so every segment is predictable.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83FDC3-1E89-407C-B302-61BF46A2A386}"/>
              </a:ext>
            </a:extLst>
          </p:cNvPr>
          <p:cNvSpPr>
            <a:spLocks noGrp="1"/>
          </p:cNvSpPr>
          <p:nvPr/>
        </p:nvSpPr>
        <p:spPr>
          <a:xfrm>
            <a:off x="647700" y="2038350"/>
            <a:ext cx="10858500" cy="3429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43D748-6909-464E-80FD-FD8B3D8D2704}"/>
              </a:ext>
            </a:extLst>
          </p:cNvPr>
          <p:cNvSpPr>
            <a:spLocks noGrp="1"/>
          </p:cNvSpPr>
          <p:nvPr/>
        </p:nvSpPr>
        <p:spPr>
          <a:xfrm>
            <a:off x="742950" y="2124075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 unit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7BE74E-3A5C-4A6A-8A12-1DACB39AA150}"/>
              </a:ext>
            </a:extLst>
          </p:cNvPr>
          <p:cNvSpPr>
            <a:spLocks noGrp="1"/>
          </p:cNvSpPr>
          <p:nvPr/>
        </p:nvSpPr>
        <p:spPr>
          <a:xfrm>
            <a:off x="3124200" y="2124075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Implemented value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F06ED2-473B-4326-A1A2-68B886E11E4C}"/>
              </a:ext>
            </a:extLst>
          </p:cNvPr>
          <p:cNvSpPr>
            <a:spLocks noGrp="1"/>
          </p:cNvSpPr>
          <p:nvPr/>
        </p:nvSpPr>
        <p:spPr>
          <a:xfrm>
            <a:off x="5505450" y="2124075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Size implication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5471BE-A78B-47B3-AEA7-47DBDE1C1566}"/>
              </a:ext>
            </a:extLst>
          </p:cNvPr>
          <p:cNvSpPr>
            <a:spLocks noGrp="1"/>
          </p:cNvSpPr>
          <p:nvPr/>
        </p:nvSpPr>
        <p:spPr>
          <a:xfrm>
            <a:off x="8648700" y="2124075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D981B7-738E-4944-9E75-78EFEC14BDA0}"/>
              </a:ext>
            </a:extLst>
          </p:cNvPr>
          <p:cNvSpPr>
            <a:spLocks noGrp="1"/>
          </p:cNvSpPr>
          <p:nvPr/>
        </p:nvSpPr>
        <p:spPr>
          <a:xfrm>
            <a:off x="647700" y="2381250"/>
            <a:ext cx="10858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6717E9-300F-407E-BEA1-36E9A420033C}"/>
              </a:ext>
            </a:extLst>
          </p:cNvPr>
          <p:cNvSpPr>
            <a:spLocks noGrp="1"/>
          </p:cNvSpPr>
          <p:nvPr/>
        </p:nvSpPr>
        <p:spPr>
          <a:xfrm>
            <a:off x="647700" y="2838450"/>
            <a:ext cx="108585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77E2BC-3EBD-4FFD-848B-BCC84F4DB522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Sample rate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6304C3-D216-4144-B29A-B44A15D64F34}"/>
              </a:ext>
            </a:extLst>
          </p:cNvPr>
          <p:cNvSpPr>
            <a:spLocks noGrp="1"/>
          </p:cNvSpPr>
          <p:nvPr/>
        </p:nvSpPr>
        <p:spPr>
          <a:xfrm>
            <a:off x="3124200" y="24765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16,000 samples/sec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FDBFF7-2F12-4225-8A4D-57D48DD13064}"/>
              </a:ext>
            </a:extLst>
          </p:cNvPr>
          <p:cNvSpPr>
            <a:spLocks noGrp="1"/>
          </p:cNvSpPr>
          <p:nvPr/>
        </p:nvSpPr>
        <p:spPr>
          <a:xfrm>
            <a:off x="5505450" y="2476500"/>
            <a:ext cx="2952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1 second = 16,000 samples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C2C509-6312-488A-9DC2-984F0DC1EEF9}"/>
              </a:ext>
            </a:extLst>
          </p:cNvPr>
          <p:cNvSpPr>
            <a:spLocks noGrp="1"/>
          </p:cNvSpPr>
          <p:nvPr/>
        </p:nvSpPr>
        <p:spPr>
          <a:xfrm>
            <a:off x="8648700" y="247650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Matches Whisper, Qwen/VAD, and mobile ASR test contract.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0A1070-C69B-42EB-9EB6-66B851BB6D8D}"/>
              </a:ext>
            </a:extLst>
          </p:cNvPr>
          <p:cNvSpPr>
            <a:spLocks noGrp="1"/>
          </p:cNvSpPr>
          <p:nvPr/>
        </p:nvSpPr>
        <p:spPr>
          <a:xfrm>
            <a:off x="647700" y="2838450"/>
            <a:ext cx="10858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D8BE76-6D99-4ED5-9C58-34C2B8B6D12E}"/>
              </a:ext>
            </a:extLst>
          </p:cNvPr>
          <p:cNvSpPr>
            <a:spLocks noGrp="1"/>
          </p:cNvSpPr>
          <p:nvPr/>
        </p:nvSpPr>
        <p:spPr>
          <a:xfrm>
            <a:off x="647700" y="3295650"/>
            <a:ext cx="108585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FD46E7-5E77-4AC6-8EAC-9953F8FB35E2}"/>
              </a:ext>
            </a:extLst>
          </p:cNvPr>
          <p:cNvSpPr>
            <a:spLocks noGrp="1"/>
          </p:cNvSpPr>
          <p:nvPr/>
        </p:nvSpPr>
        <p:spPr>
          <a:xfrm>
            <a:off x="742950" y="29337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F97A50-8A46-41FE-9F00-50276BAFBC59}"/>
              </a:ext>
            </a:extLst>
          </p:cNvPr>
          <p:cNvSpPr>
            <a:spLocks noGrp="1"/>
          </p:cNvSpPr>
          <p:nvPr/>
        </p:nvSpPr>
        <p:spPr>
          <a:xfrm>
            <a:off x="3124200" y="29337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1 channel mono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6B4E75-4260-4A09-A084-482F53FEA834}"/>
              </a:ext>
            </a:extLst>
          </p:cNvPr>
          <p:cNvSpPr>
            <a:spLocks noGrp="1"/>
          </p:cNvSpPr>
          <p:nvPr/>
        </p:nvSpPr>
        <p:spPr>
          <a:xfrm>
            <a:off x="5505450" y="2933700"/>
            <a:ext cx="2952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No stereo doubling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A1ACB2-E8BA-4677-BC49-AEDCB21BE129}"/>
              </a:ext>
            </a:extLst>
          </p:cNvPr>
          <p:cNvSpPr>
            <a:spLocks noGrp="1"/>
          </p:cNvSpPr>
          <p:nvPr/>
        </p:nvSpPr>
        <p:spPr>
          <a:xfrm>
            <a:off x="8648700" y="293370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Keeps memory and model input simple.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310586-8C08-4CD3-8404-993F9B9E38A5}"/>
              </a:ext>
            </a:extLst>
          </p:cNvPr>
          <p:cNvSpPr>
            <a:spLocks noGrp="1"/>
          </p:cNvSpPr>
          <p:nvPr/>
        </p:nvSpPr>
        <p:spPr>
          <a:xfrm>
            <a:off x="647700" y="3295650"/>
            <a:ext cx="10858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9DAE8D-B8EC-4940-B838-F53EA4F3BB72}"/>
              </a:ext>
            </a:extLst>
          </p:cNvPr>
          <p:cNvSpPr>
            <a:spLocks noGrp="1"/>
          </p:cNvSpPr>
          <p:nvPr/>
        </p:nvSpPr>
        <p:spPr>
          <a:xfrm>
            <a:off x="647700" y="3752850"/>
            <a:ext cx="108585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D8F035-32B6-45D5-8CE1-2D7D4FA42A0B}"/>
              </a:ext>
            </a:extLst>
          </p:cNvPr>
          <p:cNvSpPr>
            <a:spLocks noGrp="1"/>
          </p:cNvSpPr>
          <p:nvPr/>
        </p:nvSpPr>
        <p:spPr>
          <a:xfrm>
            <a:off x="742950" y="33909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PCM bit depth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EAECE9-312F-4E9D-ADEF-9159D449CC3F}"/>
              </a:ext>
            </a:extLst>
          </p:cNvPr>
          <p:cNvSpPr>
            <a:spLocks noGrp="1"/>
          </p:cNvSpPr>
          <p:nvPr/>
        </p:nvSpPr>
        <p:spPr>
          <a:xfrm>
            <a:off x="3124200" y="33909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16-bit linear PCM WAV on iOS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B44A89-449C-415E-92CF-1542191B8D75}"/>
              </a:ext>
            </a:extLst>
          </p:cNvPr>
          <p:cNvSpPr>
            <a:spLocks noGrp="1"/>
          </p:cNvSpPr>
          <p:nvPr/>
        </p:nvSpPr>
        <p:spPr>
          <a:xfrm>
            <a:off x="5505450" y="3390900"/>
            <a:ext cx="2952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1 second ~= 32 KB raw PCM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5D3B26-D592-4346-8218-D8C2BBAB8D70}"/>
              </a:ext>
            </a:extLst>
          </p:cNvPr>
          <p:cNvSpPr>
            <a:spLocks noGrp="1"/>
          </p:cNvSpPr>
          <p:nvPr/>
        </p:nvSpPr>
        <p:spPr>
          <a:xfrm>
            <a:off x="8648700" y="339090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Avoids compressed recorder output for Whisper.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EBA28C-DAAB-4AFD-BD2D-0E5C4FBE5F79}"/>
              </a:ext>
            </a:extLst>
          </p:cNvPr>
          <p:cNvSpPr>
            <a:spLocks noGrp="1"/>
          </p:cNvSpPr>
          <p:nvPr/>
        </p:nvSpPr>
        <p:spPr>
          <a:xfrm>
            <a:off x="647700" y="3752850"/>
            <a:ext cx="10858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0A343B-E1F2-4C75-8299-9028EEA53A90}"/>
              </a:ext>
            </a:extLst>
          </p:cNvPr>
          <p:cNvSpPr>
            <a:spLocks noGrp="1"/>
          </p:cNvSpPr>
          <p:nvPr/>
        </p:nvSpPr>
        <p:spPr>
          <a:xfrm>
            <a:off x="647700" y="4210050"/>
            <a:ext cx="108585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5F5600-24AC-4488-A99F-B5C4D28EA2FA}"/>
              </a:ext>
            </a:extLst>
          </p:cNvPr>
          <p:cNvSpPr>
            <a:spLocks noGrp="1"/>
          </p:cNvSpPr>
          <p:nvPr/>
        </p:nvSpPr>
        <p:spPr>
          <a:xfrm>
            <a:off x="742950" y="38481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VAD frame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835D22-3857-4057-B465-12C5D810A8CA}"/>
              </a:ext>
            </a:extLst>
          </p:cNvPr>
          <p:cNvSpPr>
            <a:spLocks noGrp="1"/>
          </p:cNvSpPr>
          <p:nvPr/>
        </p:nvSpPr>
        <p:spPr>
          <a:xfrm>
            <a:off x="3124200" y="38481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30 ms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50F139-CB08-4A23-BF74-018C4ABE83BF}"/>
              </a:ext>
            </a:extLst>
          </p:cNvPr>
          <p:cNvSpPr>
            <a:spLocks noGrp="1"/>
          </p:cNvSpPr>
          <p:nvPr/>
        </p:nvSpPr>
        <p:spPr>
          <a:xfrm>
            <a:off x="5505450" y="3848100"/>
            <a:ext cx="2952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480 samples ~= 960 bytes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61EF13-02D4-4E59-A76F-83C8FB7981AA}"/>
              </a:ext>
            </a:extLst>
          </p:cNvPr>
          <p:cNvSpPr>
            <a:spLocks noGrp="1"/>
          </p:cNvSpPr>
          <p:nvPr/>
        </p:nvSpPr>
        <p:spPr>
          <a:xfrm>
            <a:off x="8648700" y="384810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Small enough for responsive speech/silence detection.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8512A15-A55C-4F6C-B9D1-24C15C54EB9E}"/>
              </a:ext>
            </a:extLst>
          </p:cNvPr>
          <p:cNvSpPr>
            <a:spLocks noGrp="1"/>
          </p:cNvSpPr>
          <p:nvPr/>
        </p:nvSpPr>
        <p:spPr>
          <a:xfrm>
            <a:off x="647700" y="4210050"/>
            <a:ext cx="10858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98E9812-6290-4665-907B-A4140DCA1C11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108585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D86AB8-0993-4EBB-B14D-5853E28942B5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Pre-speech pad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C5E138C-5638-4D52-8D8E-70A02488D8CA}"/>
              </a:ext>
            </a:extLst>
          </p:cNvPr>
          <p:cNvSpPr>
            <a:spLocks noGrp="1"/>
          </p:cNvSpPr>
          <p:nvPr/>
        </p:nvSpPr>
        <p:spPr>
          <a:xfrm>
            <a:off x="3124200" y="43053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200 ms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77EDFFB-D01E-4D1A-81C1-C18DB712B99E}"/>
              </a:ext>
            </a:extLst>
          </p:cNvPr>
          <p:cNvSpPr>
            <a:spLocks noGrp="1"/>
          </p:cNvSpPr>
          <p:nvPr/>
        </p:nvSpPr>
        <p:spPr>
          <a:xfrm>
            <a:off x="5505450" y="4305300"/>
            <a:ext cx="2952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3,200 samples ~= 6.4 KB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21E7398-6426-4DBE-8D2A-E7D63CB28F2D}"/>
              </a:ext>
            </a:extLst>
          </p:cNvPr>
          <p:cNvSpPr>
            <a:spLocks noGrp="1"/>
          </p:cNvSpPr>
          <p:nvPr/>
        </p:nvSpPr>
        <p:spPr>
          <a:xfrm>
            <a:off x="8648700" y="430530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Preserves speech onset before threshold crossing.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B30A16-800A-4638-84C4-1943743234CF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10858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9C34A33-13AF-45A3-889F-DC39AFD405FA}"/>
              </a:ext>
            </a:extLst>
          </p:cNvPr>
          <p:cNvSpPr>
            <a:spLocks noGrp="1"/>
          </p:cNvSpPr>
          <p:nvPr/>
        </p:nvSpPr>
        <p:spPr>
          <a:xfrm>
            <a:off x="647700" y="5124450"/>
            <a:ext cx="108585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ABA0723-2AB8-4ADA-9B5A-0592773F012C}"/>
              </a:ext>
            </a:extLst>
          </p:cNvPr>
          <p:cNvSpPr>
            <a:spLocks noGrp="1"/>
          </p:cNvSpPr>
          <p:nvPr/>
        </p:nvSpPr>
        <p:spPr>
          <a:xfrm>
            <a:off x="742950" y="47625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Max VAD segment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7E46397-4251-40A3-8DDB-DF728AB69C61}"/>
              </a:ext>
            </a:extLst>
          </p:cNvPr>
          <p:cNvSpPr>
            <a:spLocks noGrp="1"/>
          </p:cNvSpPr>
          <p:nvPr/>
        </p:nvSpPr>
        <p:spPr>
          <a:xfrm>
            <a:off x="3124200" y="47625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12,000 ms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A21CD1F-3B4E-413D-8F7E-D35C971DAAE0}"/>
              </a:ext>
            </a:extLst>
          </p:cNvPr>
          <p:cNvSpPr>
            <a:spLocks noGrp="1"/>
          </p:cNvSpPr>
          <p:nvPr/>
        </p:nvSpPr>
        <p:spPr>
          <a:xfrm>
            <a:off x="5505450" y="4762500"/>
            <a:ext cx="2952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192,000 samples ~= 384 KB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0C9B66B-EF28-4EDF-BF5B-1DA90F335A2B}"/>
              </a:ext>
            </a:extLst>
          </p:cNvPr>
          <p:cNvSpPr>
            <a:spLocks noGrp="1"/>
          </p:cNvSpPr>
          <p:nvPr/>
        </p:nvSpPr>
        <p:spPr>
          <a:xfrm>
            <a:off x="8648700" y="476250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Caps offline segment size for Qwen-style simulated streaming.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8C61148-4E8D-4AEC-B555-8313B26096DC}"/>
              </a:ext>
            </a:extLst>
          </p:cNvPr>
          <p:cNvSpPr>
            <a:spLocks noGrp="1"/>
          </p:cNvSpPr>
          <p:nvPr/>
        </p:nvSpPr>
        <p:spPr>
          <a:xfrm>
            <a:off x="647700" y="5124450"/>
            <a:ext cx="10858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A3123FE-4339-486F-9085-E955F614AA7C}"/>
              </a:ext>
            </a:extLst>
          </p:cNvPr>
          <p:cNvSpPr>
            <a:spLocks noGrp="1"/>
          </p:cNvSpPr>
          <p:nvPr/>
        </p:nvSpPr>
        <p:spPr>
          <a:xfrm>
            <a:off x="647700" y="5581650"/>
            <a:ext cx="108585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060A00C-1158-47E6-BB35-04891C484248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Whisper window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E15BB4C-425E-4DDC-A6CA-EB358A0BFE4B}"/>
              </a:ext>
            </a:extLst>
          </p:cNvPr>
          <p:cNvSpPr>
            <a:spLocks noGrp="1"/>
          </p:cNvSpPr>
          <p:nvPr/>
        </p:nvSpPr>
        <p:spPr>
          <a:xfrm>
            <a:off x="3124200" y="52197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30 seconds internally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39018D0-5127-4570-8758-8832B02BC980}"/>
              </a:ext>
            </a:extLst>
          </p:cNvPr>
          <p:cNvSpPr>
            <a:spLocks noGrp="1"/>
          </p:cNvSpPr>
          <p:nvPr/>
        </p:nvSpPr>
        <p:spPr>
          <a:xfrm>
            <a:off x="5505450" y="5219700"/>
            <a:ext cx="2952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480,000 samples ~= 960 KB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A385995-CB19-45CF-BCCA-65A1E6B039A5}"/>
              </a:ext>
            </a:extLst>
          </p:cNvPr>
          <p:cNvSpPr>
            <a:spLocks noGrp="1"/>
          </p:cNvSpPr>
          <p:nvPr/>
        </p:nvSpPr>
        <p:spPr>
          <a:xfrm>
            <a:off x="8648700" y="521970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Still used as full-recording transcription, not live partial streaming.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82CF53A-BB08-4683-9721-C00D0BE8B7A6}"/>
              </a:ext>
            </a:extLst>
          </p:cNvPr>
          <p:cNvSpPr>
            <a:spLocks noGrp="1"/>
          </p:cNvSpPr>
          <p:nvPr/>
        </p:nvSpPr>
        <p:spPr>
          <a:xfrm>
            <a:off x="876300" y="5753100"/>
            <a:ext cx="9620250" cy="400050"/>
          </a:xfrm>
          <a:prstGeom prst="rect">
            <a:avLst/>
          </a:prstGeom>
          <a:solidFill>
            <a:srgbClr val="E5F3EF"/>
          </a:solidFill>
          <a:ln w="9525">
            <a:solidFill>
              <a:srgbClr val="0F766E"/>
            </a:solidFill>
            <a:prstDash val="solid"/>
          </a:ln>
        </p:spPr>
        <p:txBody>
          <a:bodyPr lIns="114300" tIns="95250" rIns="114300" bIns="95250" anchor="t"/>
          <a:lstStyle/>
          <a:p>
            <a:pPr algn="l">
              <a:defRPr sz="78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Audio options: .wav, 16 kHz, mono, iOS LINEARPCM, 16-bit, little-endian, non-float. Android keeps the Expo high-quality m4a path.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E3D39A9-096D-44D3-9D04-98ACF44BDE35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F90AFE2-70E6-435B-80EF-06A262EA9976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Sources: audioHelpers.ts, vadService.ts, phase-1 doc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6E91519-5A51-434B-871E-C32342DEF158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04023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05531C90-5AD4-4848-A2C7-2E35968A8D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AE779E-6EC2-4F86-A713-E4179AB7104D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F20529-6AE5-472C-BE52-9C7580D9A2F6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PHASE 1 RUNTIME MODES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2630C0-337F-4C8B-98B3-464700E56572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prototype reports what each engine really does instead of pretending every model streams.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B216C-8FD8-4DAA-8496-4AD3993D5A61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10477500" cy="3429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B360F-067A-40ED-B73F-93A913DE9331}"/>
              </a:ext>
            </a:extLst>
          </p:cNvPr>
          <p:cNvSpPr>
            <a:spLocks noGrp="1"/>
          </p:cNvSpPr>
          <p:nvPr/>
        </p:nvSpPr>
        <p:spPr>
          <a:xfrm>
            <a:off x="971550" y="2124075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Engine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BDE8C2-2827-45A6-8A45-33AF2075CDD3}"/>
              </a:ext>
            </a:extLst>
          </p:cNvPr>
          <p:cNvSpPr>
            <a:spLocks noGrp="1"/>
          </p:cNvSpPr>
          <p:nvPr/>
        </p:nvSpPr>
        <p:spPr>
          <a:xfrm>
            <a:off x="2781300" y="2124075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Runtime mode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667A21-C780-4452-9750-276A4A614CB5}"/>
              </a:ext>
            </a:extLst>
          </p:cNvPr>
          <p:cNvSpPr>
            <a:spLocks noGrp="1"/>
          </p:cNvSpPr>
          <p:nvPr/>
        </p:nvSpPr>
        <p:spPr>
          <a:xfrm>
            <a:off x="5162550" y="2124075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 in prototype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45C444-AE62-4132-808B-514AAEE667A0}"/>
              </a:ext>
            </a:extLst>
          </p:cNvPr>
          <p:cNvSpPr>
            <a:spLocks noGrp="1"/>
          </p:cNvSpPr>
          <p:nvPr/>
        </p:nvSpPr>
        <p:spPr>
          <a:xfrm>
            <a:off x="8020050" y="2124075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Important caveat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F7E737-43ED-4F85-A8E2-3782B2F121F5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10477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DE61FD-51F6-4B05-8BAF-89221F32CDAF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775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6DD37B-5C48-471A-B751-486B913CD559}"/>
              </a:ext>
            </a:extLst>
          </p:cNvPr>
          <p:cNvSpPr>
            <a:spLocks noGrp="1"/>
          </p:cNvSpPr>
          <p:nvPr/>
        </p:nvSpPr>
        <p:spPr>
          <a:xfrm>
            <a:off x="971550" y="2476500"/>
            <a:ext cx="16192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Native ASR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DBF7FE-EA75-4213-9465-71C9C7ED5DBD}"/>
              </a:ext>
            </a:extLst>
          </p:cNvPr>
          <p:cNvSpPr>
            <a:spLocks noGrp="1"/>
          </p:cNvSpPr>
          <p:nvPr/>
        </p:nvSpPr>
        <p:spPr>
          <a:xfrm>
            <a:off x="2781300" y="2476500"/>
            <a:ext cx="2190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true-streaming when partial callbacks work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28FCC0-6457-4EE4-8C47-94F9D9C9DF0F}"/>
              </a:ext>
            </a:extLst>
          </p:cNvPr>
          <p:cNvSpPr>
            <a:spLocks noGrp="1"/>
          </p:cNvSpPr>
          <p:nvPr/>
        </p:nvSpPr>
        <p:spPr>
          <a:xfrm>
            <a:off x="5162550" y="2476500"/>
            <a:ext cx="2667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Real-time mobile baseline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16C387-65D8-42A3-850C-F8BE63B84557}"/>
              </a:ext>
            </a:extLst>
          </p:cNvPr>
          <p:cNvSpPr>
            <a:spLocks noGrp="1"/>
          </p:cNvSpPr>
          <p:nvPr/>
        </p:nvSpPr>
        <p:spPr>
          <a:xfrm>
            <a:off x="8020050" y="2476500"/>
            <a:ext cx="3238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Availability and on-device support vary by OS, locale, and device.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E93E21-17BA-430F-BA9B-43F7E4682B9D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77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B8737D-40E7-4181-ACFA-D10C5AAEDAE2}"/>
              </a:ext>
            </a:extLst>
          </p:cNvPr>
          <p:cNvSpPr>
            <a:spLocks noGrp="1"/>
          </p:cNvSpPr>
          <p:nvPr/>
        </p:nvSpPr>
        <p:spPr>
          <a:xfrm>
            <a:off x="876300" y="3943350"/>
            <a:ext cx="104775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E5F33-38F8-4C12-8608-1285ECDD0D75}"/>
              </a:ext>
            </a:extLst>
          </p:cNvPr>
          <p:cNvSpPr>
            <a:spLocks noGrp="1"/>
          </p:cNvSpPr>
          <p:nvPr/>
        </p:nvSpPr>
        <p:spPr>
          <a:xfrm>
            <a:off x="971550" y="3257550"/>
            <a:ext cx="16192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Whisper base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7569B1-48E3-4CD1-9D6B-21D0970AE0F6}"/>
              </a:ext>
            </a:extLst>
          </p:cNvPr>
          <p:cNvSpPr>
            <a:spLocks noGrp="1"/>
          </p:cNvSpPr>
          <p:nvPr/>
        </p:nvSpPr>
        <p:spPr>
          <a:xfrm>
            <a:off x="2781300" y="3257550"/>
            <a:ext cx="2190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offline-full-recording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DD0B83-CED1-4C28-8861-80506C480CB4}"/>
              </a:ext>
            </a:extLst>
          </p:cNvPr>
          <p:cNvSpPr>
            <a:spLocks noGrp="1"/>
          </p:cNvSpPr>
          <p:nvPr/>
        </p:nvSpPr>
        <p:spPr>
          <a:xfrm>
            <a:off x="5162550" y="3257550"/>
            <a:ext cx="2667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Multilingual offline baseline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AFDD10-81FF-401A-9E2C-6E494D06C5E9}"/>
              </a:ext>
            </a:extLst>
          </p:cNvPr>
          <p:cNvSpPr>
            <a:spLocks noGrp="1"/>
          </p:cNvSpPr>
          <p:nvPr/>
        </p:nvSpPr>
        <p:spPr>
          <a:xfrm>
            <a:off x="8020050" y="3257550"/>
            <a:ext cx="3238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Transcribes after recording stops; no live partial-token path in this app.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715F05-17F9-4380-A965-7C3C4D7DFADB}"/>
              </a:ext>
            </a:extLst>
          </p:cNvPr>
          <p:cNvSpPr>
            <a:spLocks noGrp="1"/>
          </p:cNvSpPr>
          <p:nvPr/>
        </p:nvSpPr>
        <p:spPr>
          <a:xfrm>
            <a:off x="876300" y="3943350"/>
            <a:ext cx="10477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1E2A99-6067-490A-AF68-F488E2186404}"/>
              </a:ext>
            </a:extLst>
          </p:cNvPr>
          <p:cNvSpPr>
            <a:spLocks noGrp="1"/>
          </p:cNvSpPr>
          <p:nvPr/>
        </p:nvSpPr>
        <p:spPr>
          <a:xfrm>
            <a:off x="876300" y="4724400"/>
            <a:ext cx="104775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E76A14-D221-455D-B18A-A99E2ACA9EF0}"/>
              </a:ext>
            </a:extLst>
          </p:cNvPr>
          <p:cNvSpPr>
            <a:spLocks noGrp="1"/>
          </p:cNvSpPr>
          <p:nvPr/>
        </p:nvSpPr>
        <p:spPr>
          <a:xfrm>
            <a:off x="971550" y="4038600"/>
            <a:ext cx="16192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Qwen3-ASR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4B9A37-01E1-4C5A-912F-034A1C470E84}"/>
              </a:ext>
            </a:extLst>
          </p:cNvPr>
          <p:cNvSpPr>
            <a:spLocks noGrp="1"/>
          </p:cNvSpPr>
          <p:nvPr/>
        </p:nvSpPr>
        <p:spPr>
          <a:xfrm>
            <a:off x="2781300" y="4038600"/>
            <a:ext cx="2190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vad-segmented-offline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F58B7C-23B0-422E-A705-9A6F1A6845D3}"/>
              </a:ext>
            </a:extLst>
          </p:cNvPr>
          <p:cNvSpPr>
            <a:spLocks noGrp="1"/>
          </p:cNvSpPr>
          <p:nvPr/>
        </p:nvSpPr>
        <p:spPr>
          <a:xfrm>
            <a:off x="5162550" y="4038600"/>
            <a:ext cx="2667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Advanced on-device candidate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5404AFF-6A49-4BCE-A4FE-0257827C3E65}"/>
              </a:ext>
            </a:extLst>
          </p:cNvPr>
          <p:cNvSpPr>
            <a:spLocks noGrp="1"/>
          </p:cNvSpPr>
          <p:nvPr/>
        </p:nvSpPr>
        <p:spPr>
          <a:xfrm>
            <a:off x="8020050" y="4038600"/>
            <a:ext cx="3238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Requires Sherpa model files; text appears after VAD utterance boundaries.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EC9D55-D857-479C-ABD8-1E1BB30A13A0}"/>
              </a:ext>
            </a:extLst>
          </p:cNvPr>
          <p:cNvSpPr>
            <a:spLocks noGrp="1"/>
          </p:cNvSpPr>
          <p:nvPr/>
        </p:nvSpPr>
        <p:spPr>
          <a:xfrm>
            <a:off x="1676400" y="5010150"/>
            <a:ext cx="2857500" cy="933450"/>
          </a:xfrm>
          <a:prstGeom prst="rect">
            <a:avLst/>
          </a:prstGeom>
          <a:solidFill>
            <a:srgbClr val="E7EEF8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84FBBF-F02F-4EF2-8232-A52DBA5E23E2}"/>
              </a:ext>
            </a:extLst>
          </p:cNvPr>
          <p:cNvSpPr>
            <a:spLocks noGrp="1"/>
          </p:cNvSpPr>
          <p:nvPr/>
        </p:nvSpPr>
        <p:spPr>
          <a:xfrm>
            <a:off x="1809750" y="5105400"/>
            <a:ext cx="2590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Runtime mode is thesis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898306-F643-4ABA-996B-3225A7F6C250}"/>
              </a:ext>
            </a:extLst>
          </p:cNvPr>
          <p:cNvSpPr>
            <a:spLocks noGrp="1"/>
          </p:cNvSpPr>
          <p:nvPr/>
        </p:nvSpPr>
        <p:spPr>
          <a:xfrm>
            <a:off x="1809750" y="5391150"/>
            <a:ext cx="2590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Every saved row carries true-streaming, vad-segmented-offline, offline-full-recording, or unsupported.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5730E9-73B2-4911-8A9D-BA5AAB6F501A}"/>
              </a:ext>
            </a:extLst>
          </p:cNvPr>
          <p:cNvSpPr>
            <a:spLocks noGrp="1"/>
          </p:cNvSpPr>
          <p:nvPr/>
        </p:nvSpPr>
        <p:spPr>
          <a:xfrm>
            <a:off x="4819650" y="5010150"/>
            <a:ext cx="2857500" cy="933450"/>
          </a:xfrm>
          <a:prstGeom prst="rect">
            <a:avLst/>
          </a:prstGeom>
          <a:solidFill>
            <a:srgbClr val="F7D9D7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EA21DF-8F4D-440E-883F-636531114AEB}"/>
              </a:ext>
            </a:extLst>
          </p:cNvPr>
          <p:cNvSpPr>
            <a:spLocks noGrp="1"/>
          </p:cNvSpPr>
          <p:nvPr/>
        </p:nvSpPr>
        <p:spPr>
          <a:xfrm>
            <a:off x="4953000" y="5105400"/>
            <a:ext cx="2590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Unsupported is explicit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CCE5AC3-A127-41CB-A945-DD50DE687E19}"/>
              </a:ext>
            </a:extLst>
          </p:cNvPr>
          <p:cNvSpPr>
            <a:spLocks noGrp="1"/>
          </p:cNvSpPr>
          <p:nvPr/>
        </p:nvSpPr>
        <p:spPr>
          <a:xfrm>
            <a:off x="4953000" y="5391150"/>
            <a:ext cx="2590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Missing model files produce saved unsupported/error rows with model and test metadata.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45221B1-9081-441C-8370-59C517638D53}"/>
              </a:ext>
            </a:extLst>
          </p:cNvPr>
          <p:cNvSpPr>
            <a:spLocks noGrp="1"/>
          </p:cNvSpPr>
          <p:nvPr/>
        </p:nvSpPr>
        <p:spPr>
          <a:xfrm>
            <a:off x="7962900" y="5010150"/>
            <a:ext cx="2857500" cy="933450"/>
          </a:xfrm>
          <a:prstGeom prst="rect">
            <a:avLst/>
          </a:prstGeom>
          <a:solidFill>
            <a:srgbClr val="E5F3EF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38AF95E-A3C1-4015-BF4B-FCBDA3F1ABF9}"/>
              </a:ext>
            </a:extLst>
          </p:cNvPr>
          <p:cNvSpPr>
            <a:spLocks noGrp="1"/>
          </p:cNvSpPr>
          <p:nvPr/>
        </p:nvSpPr>
        <p:spPr>
          <a:xfrm>
            <a:off x="8096250" y="5105400"/>
            <a:ext cx="2590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Metrics travel with the result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07F12BD-788C-4374-A8A4-993A02CF7121}"/>
              </a:ext>
            </a:extLst>
          </p:cNvPr>
          <p:cNvSpPr>
            <a:spLocks noGrp="1"/>
          </p:cNvSpPr>
          <p:nvPr/>
        </p:nvSpPr>
        <p:spPr>
          <a:xfrm>
            <a:off x="8096250" y="5391150"/>
            <a:ext cx="2590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TTFS, transcription time, speech/silence duration, segments, and sample rate are preserved.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20B92D5-DE6A-4EE4-89AE-F1FD7AFBFB6D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6638D3E-66FD-4D8A-97C5-AF5A69629E84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Sources: phase-1 doc, ASR engine registry/types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FE18F90-C3FC-4742-8985-040AD4ACCD67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97469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793F96B4-E5F6-4780-8A52-3BCC9943CB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A0792F-0471-43B6-885A-AE90B23033A0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6054B3-2A27-430E-B628-6E6174F79FD8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PHASE 2 TESTING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C79EA5-9A43-4B0F-A083-822EFB8FBFD6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Phase 2 turned the app into a controlled manual ASR testing tool.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208E5C-4C27-4CDA-AE38-F58A2D6BE3B6}"/>
              </a:ext>
            </a:extLst>
          </p:cNvPr>
          <p:cNvSpPr>
            <a:spLocks noGrp="1"/>
          </p:cNvSpPr>
          <p:nvPr/>
        </p:nvSpPr>
        <p:spPr>
          <a:xfrm>
            <a:off x="819150" y="2190750"/>
            <a:ext cx="2381250" cy="1123950"/>
          </a:xfrm>
          <a:prstGeom prst="rect">
            <a:avLst/>
          </a:prstGeom>
          <a:solidFill>
            <a:srgbClr val="E7EEF8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C66230-5D34-4500-A97D-B7661DCAC068}"/>
              </a:ext>
            </a:extLst>
          </p:cNvPr>
          <p:cNvSpPr>
            <a:spLocks noGrp="1"/>
          </p:cNvSpPr>
          <p:nvPr/>
        </p:nvSpPr>
        <p:spPr>
          <a:xfrm>
            <a:off x="952500" y="228600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Test case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9ABA35-73A5-4845-A121-09B043E2B63F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21145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Reference sentence, language, category, difficulty, expected fields.</a:t>
            </a:r>
          </a:p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40 cases across English and Finnish.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3901E7-2D59-4E2E-80F0-FF3A4D190156}"/>
              </a:ext>
            </a:extLst>
          </p:cNvPr>
          <p:cNvSpPr>
            <a:spLocks noGrp="1"/>
          </p:cNvSpPr>
          <p:nvPr/>
        </p:nvSpPr>
        <p:spPr>
          <a:xfrm>
            <a:off x="4819650" y="2190750"/>
            <a:ext cx="2381250" cy="1123950"/>
          </a:xfrm>
          <a:prstGeom prst="rect">
            <a:avLst/>
          </a:prstGeom>
          <a:solidFill>
            <a:srgbClr val="F5E7C8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DE4367-CB71-4067-8073-720AA9BBB067}"/>
              </a:ext>
            </a:extLst>
          </p:cNvPr>
          <p:cNvSpPr>
            <a:spLocks noGrp="1"/>
          </p:cNvSpPr>
          <p:nvPr/>
        </p:nvSpPr>
        <p:spPr>
          <a:xfrm>
            <a:off x="4953000" y="228600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Test session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84C44-A110-4F7B-A5B2-22104DFB4E87}"/>
              </a:ext>
            </a:extLst>
          </p:cNvPr>
          <p:cNvSpPr>
            <a:spLocks noGrp="1"/>
          </p:cNvSpPr>
          <p:nvPr/>
        </p:nvSpPr>
        <p:spPr>
          <a:xfrm>
            <a:off x="4953000" y="2571750"/>
            <a:ext cx="21145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Noise condition, target dBA range, device, noise source, measurement notes.</a:t>
            </a:r>
          </a:p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3 default sessions.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552A98-7330-4A47-BA15-5C5661E51394}"/>
              </a:ext>
            </a:extLst>
          </p:cNvPr>
          <p:cNvSpPr>
            <a:spLocks noGrp="1"/>
          </p:cNvSpPr>
          <p:nvPr/>
        </p:nvSpPr>
        <p:spPr>
          <a:xfrm>
            <a:off x="8820150" y="2190750"/>
            <a:ext cx="2381250" cy="1123950"/>
          </a:xfrm>
          <a:prstGeom prst="rect">
            <a:avLst/>
          </a:prstGeom>
          <a:solidFill>
            <a:srgbClr val="E5F3EF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B8E2B-6E62-4C6F-9277-D55E5F7B86B3}"/>
              </a:ext>
            </a:extLst>
          </p:cNvPr>
          <p:cNvSpPr>
            <a:spLocks noGrp="1"/>
          </p:cNvSpPr>
          <p:nvPr/>
        </p:nvSpPr>
        <p:spPr>
          <a:xfrm>
            <a:off x="8953500" y="228600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Test result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C755FF-83F2-4B5B-AE98-40350999CC20}"/>
              </a:ext>
            </a:extLst>
          </p:cNvPr>
          <p:cNvSpPr>
            <a:spLocks noGrp="1"/>
          </p:cNvSpPr>
          <p:nvPr/>
        </p:nvSpPr>
        <p:spPr>
          <a:xfrm>
            <a:off x="8953500" y="2571750"/>
            <a:ext cx="21145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Recognized text, WER/CER, timings, runtime mode, success/error, device feasibility fields.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B153C1-8788-4645-80AE-9F0FC4C99769}"/>
              </a:ext>
            </a:extLst>
          </p:cNvPr>
          <p:cNvSpPr>
            <a:spLocks noGrp="1"/>
          </p:cNvSpPr>
          <p:nvPr/>
        </p:nvSpPr>
        <p:spPr>
          <a:xfrm>
            <a:off x="3276600" y="2743200"/>
            <a:ext cx="1314450" cy="14288"/>
          </a:xfrm>
          <a:prstGeom prst="rect">
            <a:avLst/>
          </a:prstGeom>
          <a:solidFill>
            <a:srgbClr val="5F6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98C51D-1796-4E30-9BF4-5A36ED1A9C86}"/>
              </a:ext>
            </a:extLst>
          </p:cNvPr>
          <p:cNvSpPr>
            <a:spLocks noGrp="1"/>
          </p:cNvSpPr>
          <p:nvPr/>
        </p:nvSpPr>
        <p:spPr>
          <a:xfrm>
            <a:off x="4572000" y="2638425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9E38A1-D4A7-41FD-A304-4A1BE6A551C2}"/>
              </a:ext>
            </a:extLst>
          </p:cNvPr>
          <p:cNvSpPr>
            <a:spLocks noGrp="1"/>
          </p:cNvSpPr>
          <p:nvPr/>
        </p:nvSpPr>
        <p:spPr>
          <a:xfrm>
            <a:off x="7277100" y="2743200"/>
            <a:ext cx="1314450" cy="14288"/>
          </a:xfrm>
          <a:prstGeom prst="rect">
            <a:avLst/>
          </a:prstGeom>
          <a:solidFill>
            <a:srgbClr val="5F6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58E9DB-A985-4E7B-9395-03F16BCC06C0}"/>
              </a:ext>
            </a:extLst>
          </p:cNvPr>
          <p:cNvSpPr>
            <a:spLocks noGrp="1"/>
          </p:cNvSpPr>
          <p:nvPr/>
        </p:nvSpPr>
        <p:spPr>
          <a:xfrm>
            <a:off x="8572500" y="2638425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05E132-89AE-4A99-8A17-73F7F223EF91}"/>
              </a:ext>
            </a:extLst>
          </p:cNvPr>
          <p:cNvSpPr>
            <a:spLocks noGrp="1"/>
          </p:cNvSpPr>
          <p:nvPr/>
        </p:nvSpPr>
        <p:spPr>
          <a:xfrm>
            <a:off x="1333500" y="4095750"/>
            <a:ext cx="9620250" cy="3429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269F96-AB62-4610-941C-2B4792F6D298}"/>
              </a:ext>
            </a:extLst>
          </p:cNvPr>
          <p:cNvSpPr>
            <a:spLocks noGrp="1"/>
          </p:cNvSpPr>
          <p:nvPr/>
        </p:nvSpPr>
        <p:spPr>
          <a:xfrm>
            <a:off x="1428750" y="4181475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Session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7C6F51-1FC4-4A0F-A4E8-691F3214F0ED}"/>
              </a:ext>
            </a:extLst>
          </p:cNvPr>
          <p:cNvSpPr>
            <a:spLocks noGrp="1"/>
          </p:cNvSpPr>
          <p:nvPr/>
        </p:nvSpPr>
        <p:spPr>
          <a:xfrm>
            <a:off x="4572000" y="4181475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Noise condition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CFEF79-B074-4EE8-902C-07CDCD2A2254}"/>
              </a:ext>
            </a:extLst>
          </p:cNvPr>
          <p:cNvSpPr>
            <a:spLocks noGrp="1"/>
          </p:cNvSpPr>
          <p:nvPr/>
        </p:nvSpPr>
        <p:spPr>
          <a:xfrm>
            <a:off x="6762750" y="4181475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 dBA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29BC4D-16C5-468F-A9B5-2B324EFF731C}"/>
              </a:ext>
            </a:extLst>
          </p:cNvPr>
          <p:cNvSpPr>
            <a:spLocks noGrp="1"/>
          </p:cNvSpPr>
          <p:nvPr/>
        </p:nvSpPr>
        <p:spPr>
          <a:xfrm>
            <a:off x="8382000" y="4181475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C009FF-54D4-443E-98A7-85EBAFE936E5}"/>
              </a:ext>
            </a:extLst>
          </p:cNvPr>
          <p:cNvSpPr>
            <a:spLocks noGrp="1"/>
          </p:cNvSpPr>
          <p:nvPr/>
        </p:nvSpPr>
        <p:spPr>
          <a:xfrm>
            <a:off x="1333500" y="4438650"/>
            <a:ext cx="962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AC5EE3-8E83-4BD1-AAF1-24130FF1AA88}"/>
              </a:ext>
            </a:extLst>
          </p:cNvPr>
          <p:cNvSpPr>
            <a:spLocks noGrp="1"/>
          </p:cNvSpPr>
          <p:nvPr/>
        </p:nvSpPr>
        <p:spPr>
          <a:xfrm>
            <a:off x="1333500" y="4857750"/>
            <a:ext cx="962025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134EE9-A416-4B8A-9354-4001CC833E41}"/>
              </a:ext>
            </a:extLst>
          </p:cNvPr>
          <p:cNvSpPr>
            <a:spLocks noGrp="1"/>
          </p:cNvSpPr>
          <p:nvPr/>
        </p:nvSpPr>
        <p:spPr>
          <a:xfrm>
            <a:off x="1428750" y="4533900"/>
            <a:ext cx="2952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S00_QUIET_UNDER_50DBA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4C69EA-A328-4F1D-A02A-C54F3F25D914}"/>
              </a:ext>
            </a:extLst>
          </p:cNvPr>
          <p:cNvSpPr>
            <a:spLocks noGrp="1"/>
          </p:cNvSpPr>
          <p:nvPr/>
        </p:nvSpPr>
        <p:spPr>
          <a:xfrm>
            <a:off x="4572000" y="453390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quiet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EF4F9B-06DD-4158-9738-24353FAD8B1E}"/>
              </a:ext>
            </a:extLst>
          </p:cNvPr>
          <p:cNvSpPr>
            <a:spLocks noGrp="1"/>
          </p:cNvSpPr>
          <p:nvPr/>
        </p:nvSpPr>
        <p:spPr>
          <a:xfrm>
            <a:off x="6762750" y="45339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35-50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AC701A-B87A-4A10-B314-6648661B8B05}"/>
              </a:ext>
            </a:extLst>
          </p:cNvPr>
          <p:cNvSpPr>
            <a:spLocks noGrp="1"/>
          </p:cNvSpPr>
          <p:nvPr/>
        </p:nvSpPr>
        <p:spPr>
          <a:xfrm>
            <a:off x="8382000" y="45339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Baseline speech recognition.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3F6732-7990-4A99-AD21-CE2010E7219C}"/>
              </a:ext>
            </a:extLst>
          </p:cNvPr>
          <p:cNvSpPr>
            <a:spLocks noGrp="1"/>
          </p:cNvSpPr>
          <p:nvPr/>
        </p:nvSpPr>
        <p:spPr>
          <a:xfrm>
            <a:off x="1333500" y="4857750"/>
            <a:ext cx="962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E36C4C4-7FB5-4E04-911E-5DD2F0389DE4}"/>
              </a:ext>
            </a:extLst>
          </p:cNvPr>
          <p:cNvSpPr>
            <a:spLocks noGrp="1"/>
          </p:cNvSpPr>
          <p:nvPr/>
        </p:nvSpPr>
        <p:spPr>
          <a:xfrm>
            <a:off x="1333500" y="5276850"/>
            <a:ext cx="962025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E5AE54-B64E-40AD-90C2-D3A2BCBB9516}"/>
              </a:ext>
            </a:extLst>
          </p:cNvPr>
          <p:cNvSpPr>
            <a:spLocks noGrp="1"/>
          </p:cNvSpPr>
          <p:nvPr/>
        </p:nvSpPr>
        <p:spPr>
          <a:xfrm>
            <a:off x="1428750" y="4953000"/>
            <a:ext cx="2952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S01_MODERATE_65_75DBA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1D64257-FDB1-4FC5-B1DE-C75B00A92F55}"/>
              </a:ext>
            </a:extLst>
          </p:cNvPr>
          <p:cNvSpPr>
            <a:spLocks noGrp="1"/>
          </p:cNvSpPr>
          <p:nvPr/>
        </p:nvSpPr>
        <p:spPr>
          <a:xfrm>
            <a:off x="4572000" y="495300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moderate_noise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3F2FD6-56CB-4D72-AF17-4BFE6E06F79A}"/>
              </a:ext>
            </a:extLst>
          </p:cNvPr>
          <p:cNvSpPr>
            <a:spLocks noGrp="1"/>
          </p:cNvSpPr>
          <p:nvPr/>
        </p:nvSpPr>
        <p:spPr>
          <a:xfrm>
            <a:off x="6762750" y="49530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65-75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4713AF1-06E7-4D7B-B526-184BF96D676A}"/>
              </a:ext>
            </a:extLst>
          </p:cNvPr>
          <p:cNvSpPr>
            <a:spLocks noGrp="1"/>
          </p:cNvSpPr>
          <p:nvPr/>
        </p:nvSpPr>
        <p:spPr>
          <a:xfrm>
            <a:off x="8382000" y="49530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Construction-like interference.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40875C-D73E-455A-8358-972E29DA2E58}"/>
              </a:ext>
            </a:extLst>
          </p:cNvPr>
          <p:cNvSpPr>
            <a:spLocks noGrp="1"/>
          </p:cNvSpPr>
          <p:nvPr/>
        </p:nvSpPr>
        <p:spPr>
          <a:xfrm>
            <a:off x="1333500" y="5276850"/>
            <a:ext cx="962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F53DD3D-67F8-4466-BE5F-AFC1F0F59385}"/>
              </a:ext>
            </a:extLst>
          </p:cNvPr>
          <p:cNvSpPr>
            <a:spLocks noGrp="1"/>
          </p:cNvSpPr>
          <p:nvPr/>
        </p:nvSpPr>
        <p:spPr>
          <a:xfrm>
            <a:off x="1333500" y="5695950"/>
            <a:ext cx="962025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C1ED841-C9D1-4D6F-9D04-3B7F1C33EB44}"/>
              </a:ext>
            </a:extLst>
          </p:cNvPr>
          <p:cNvSpPr>
            <a:spLocks noGrp="1"/>
          </p:cNvSpPr>
          <p:nvPr/>
        </p:nvSpPr>
        <p:spPr>
          <a:xfrm>
            <a:off x="1428750" y="5372100"/>
            <a:ext cx="2952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S02_HARD_80_85DBA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AD82C28-F275-4A09-A38A-519260DB0593}"/>
              </a:ext>
            </a:extLst>
          </p:cNvPr>
          <p:cNvSpPr>
            <a:spLocks noGrp="1"/>
          </p:cNvSpPr>
          <p:nvPr/>
        </p:nvSpPr>
        <p:spPr>
          <a:xfrm>
            <a:off x="4572000" y="537210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hard_noise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6A9FEDC-84C4-49B4-B1F3-89F07FA3D06D}"/>
              </a:ext>
            </a:extLst>
          </p:cNvPr>
          <p:cNvSpPr>
            <a:spLocks noGrp="1"/>
          </p:cNvSpPr>
          <p:nvPr/>
        </p:nvSpPr>
        <p:spPr>
          <a:xfrm>
            <a:off x="6762750" y="53721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80-85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930B423-62EE-4B08-831B-54E8941A51A8}"/>
              </a:ext>
            </a:extLst>
          </p:cNvPr>
          <p:cNvSpPr>
            <a:spLocks noGrp="1"/>
          </p:cNvSpPr>
          <p:nvPr/>
        </p:nvSpPr>
        <p:spPr>
          <a:xfrm>
            <a:off x="8382000" y="53721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Stress test for reporting feasibility.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6620CBE-8573-4137-A948-CD91CC8FCBB9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BF31519-5EA5-4620-8A23-27728AAAA556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Sources: phase-2 doc and phase2_manual_asr_testing_config_en_fi.json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8759121-EE7D-43C5-B8AC-005EDA66B82D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38379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D631C39-BF57-442A-A7FF-6EEE0BBD06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74C4BF-FFA3-408F-975C-68A1AEBB3251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37F25B-C672-4FB5-AFDB-2EDF224E8EB9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PHASE 2 METRICS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2D2762-77FA-4F6E-8571-BA418DF51AEB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scoring layer converts a spoken test into a comparable research row.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5F5BD6-2F1B-43DC-BD9C-A7315206B18F}"/>
              </a:ext>
            </a:extLst>
          </p:cNvPr>
          <p:cNvSpPr>
            <a:spLocks noGrp="1"/>
          </p:cNvSpPr>
          <p:nvPr/>
        </p:nvSpPr>
        <p:spPr>
          <a:xfrm>
            <a:off x="781050" y="2305050"/>
            <a:ext cx="161925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E6E5A5-C97A-4FD5-BBD5-884309723E3F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Normalize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9D2541-5699-49C6-9625-B53526AAC319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18097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lowercase, trim, collapse spaces, remove basic punctuation while preserving letters/digits such as A302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C18AD1-CB6C-4A9D-AB45-50F7DFF47178}"/>
              </a:ext>
            </a:extLst>
          </p:cNvPr>
          <p:cNvSpPr>
            <a:spLocks noGrp="1"/>
          </p:cNvSpPr>
          <p:nvPr/>
        </p:nvSpPr>
        <p:spPr>
          <a:xfrm>
            <a:off x="2971800" y="2305050"/>
            <a:ext cx="161925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F4A645-D563-49D3-9810-10246495D48D}"/>
              </a:ext>
            </a:extLst>
          </p:cNvPr>
          <p:cNvSpPr>
            <a:spLocks noGrp="1"/>
          </p:cNvSpPr>
          <p:nvPr/>
        </p:nvSpPr>
        <p:spPr>
          <a:xfrm>
            <a:off x="2971800" y="25717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WER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93C9C7-061E-42E2-9F8C-CC25C0B6C098}"/>
              </a:ext>
            </a:extLst>
          </p:cNvPr>
          <p:cNvSpPr>
            <a:spLocks noGrp="1"/>
          </p:cNvSpPr>
          <p:nvPr/>
        </p:nvSpPr>
        <p:spPr>
          <a:xfrm>
            <a:off x="2876550" y="3009900"/>
            <a:ext cx="18097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Levenshtein distance over normalized word tokens divided by reference word count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9E578C-EC1D-47D9-B63D-553CED15BF8F}"/>
              </a:ext>
            </a:extLst>
          </p:cNvPr>
          <p:cNvSpPr>
            <a:spLocks noGrp="1"/>
          </p:cNvSpPr>
          <p:nvPr/>
        </p:nvSpPr>
        <p:spPr>
          <a:xfrm>
            <a:off x="5162550" y="2305050"/>
            <a:ext cx="1619250" cy="762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981CD8-708C-4ADC-BDB7-C5F6E51A8215}"/>
              </a:ext>
            </a:extLst>
          </p:cNvPr>
          <p:cNvSpPr>
            <a:spLocks noGrp="1"/>
          </p:cNvSpPr>
          <p:nvPr/>
        </p:nvSpPr>
        <p:spPr>
          <a:xfrm>
            <a:off x="5162550" y="25717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CER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BEB0-AE11-426E-99CF-5F54C570B10B}"/>
              </a:ext>
            </a:extLst>
          </p:cNvPr>
          <p:cNvSpPr>
            <a:spLocks noGrp="1"/>
          </p:cNvSpPr>
          <p:nvPr/>
        </p:nvSpPr>
        <p:spPr>
          <a:xfrm>
            <a:off x="5067300" y="3009900"/>
            <a:ext cx="18097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Levenshtein distance over normalized characters excluding whitespace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D6328D-6E7E-423C-A05E-82F8903F17FE}"/>
              </a:ext>
            </a:extLst>
          </p:cNvPr>
          <p:cNvSpPr>
            <a:spLocks noGrp="1"/>
          </p:cNvSpPr>
          <p:nvPr/>
        </p:nvSpPr>
        <p:spPr>
          <a:xfrm>
            <a:off x="7353300" y="2305050"/>
            <a:ext cx="1619250" cy="762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F7329E-5BC2-4DBB-B285-E4B449CEDD83}"/>
              </a:ext>
            </a:extLst>
          </p:cNvPr>
          <p:cNvSpPr>
            <a:spLocks noGrp="1"/>
          </p:cNvSpPr>
          <p:nvPr/>
        </p:nvSpPr>
        <p:spPr>
          <a:xfrm>
            <a:off x="7353300" y="25717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Latency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50B0D3-4CF4-4124-B822-6B5B6ECD616A}"/>
              </a:ext>
            </a:extLst>
          </p:cNvPr>
          <p:cNvSpPr>
            <a:spLocks noGrp="1"/>
          </p:cNvSpPr>
          <p:nvPr/>
        </p:nvSpPr>
        <p:spPr>
          <a:xfrm>
            <a:off x="7258050" y="3009900"/>
            <a:ext cx="18097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TTFS from first observed text, transcription time, recording duration, real-time factor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86B719-441D-40A4-B064-E4EAA30A11D3}"/>
              </a:ext>
            </a:extLst>
          </p:cNvPr>
          <p:cNvSpPr>
            <a:spLocks noGrp="1"/>
          </p:cNvSpPr>
          <p:nvPr/>
        </p:nvSpPr>
        <p:spPr>
          <a:xfrm>
            <a:off x="9544050" y="2305050"/>
            <a:ext cx="1619250" cy="76200"/>
          </a:xfrm>
          <a:prstGeom prst="rect">
            <a:avLst/>
          </a:prstGeom>
          <a:solidFill>
            <a:srgbClr val="B91C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6019B0-C29E-466F-916D-5E2455E44649}"/>
              </a:ext>
            </a:extLst>
          </p:cNvPr>
          <p:cNvSpPr>
            <a:spLocks noGrp="1"/>
          </p:cNvSpPr>
          <p:nvPr/>
        </p:nvSpPr>
        <p:spPr>
          <a:xfrm>
            <a:off x="9544050" y="25717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Export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D77F56-BADB-4B6B-BDFB-8AAAF89268EE}"/>
              </a:ext>
            </a:extLst>
          </p:cNvPr>
          <p:cNvSpPr>
            <a:spLocks noGrp="1"/>
          </p:cNvSpPr>
          <p:nvPr/>
        </p:nvSpPr>
        <p:spPr>
          <a:xfrm>
            <a:off x="9448800" y="3009900"/>
            <a:ext cx="18097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CSV joins test case + session + result into one analyzable file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57069B-CE4C-4FED-B81B-D034D80A9E67}"/>
              </a:ext>
            </a:extLst>
          </p:cNvPr>
          <p:cNvSpPr>
            <a:spLocks noGrp="1"/>
          </p:cNvSpPr>
          <p:nvPr/>
        </p:nvSpPr>
        <p:spPr>
          <a:xfrm>
            <a:off x="1562100" y="4819650"/>
            <a:ext cx="9067800" cy="533400"/>
          </a:xfrm>
          <a:prstGeom prst="rect">
            <a:avLst/>
          </a:prstGeom>
          <a:solidFill>
            <a:srgbClr val="FBF8F1"/>
          </a:solidFill>
          <a:ln w="9525">
            <a:solidFill>
              <a:srgbClr val="D8D0C2"/>
            </a:solidFill>
            <a:prstDash val="solid"/>
          </a:ln>
        </p:spPr>
        <p:txBody>
          <a:bodyPr lIns="114300" tIns="95250" rIns="114300" bIns="95250" anchor="t"/>
          <a:lstStyle/>
          <a:p>
            <a:pPr algn="l">
              <a:defRPr sz="90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Phase 2 keeps battery, thermal, and memory fields in the schema even when the device cannot provide them yet. That preserves room for later feasibility analysis without blocking manual ASR testing.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DD581A-A237-4FE1-B27D-7CEF576C0B86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188760-FCBA-4DDA-9A7E-EF53C2D8BF58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Sources: asrScoring.ts, manualAsrResultBuilder.ts, phase-2 doc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5C5848-274E-4EC0-A41E-95D5F239C258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92166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A49B991-6128-45BD-AC4D-0952AAAF23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E4F648-0B45-4B62-B708-044480E9AE8B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9230AF-082A-4B63-83AE-E9CA7E7215B0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PHASE 2 TO PHASE 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A306F1-61DD-4C52-A4C4-CA6EF2FCA707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Native iOS ASR was selected because the reporting workflow needs live mobile feedback.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3A285D-D705-48F2-A1BA-909D801C02DB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10668000" cy="3429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63C2C1-ED23-49C8-9EC6-FA058C1250CD}"/>
              </a:ext>
            </a:extLst>
          </p:cNvPr>
          <p:cNvSpPr>
            <a:spLocks noGrp="1"/>
          </p:cNvSpPr>
          <p:nvPr/>
        </p:nvSpPr>
        <p:spPr>
          <a:xfrm>
            <a:off x="781050" y="2124075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474644-5F8F-4389-9D25-FA9933DD9A6C}"/>
              </a:ext>
            </a:extLst>
          </p:cNvPr>
          <p:cNvSpPr>
            <a:spLocks noGrp="1"/>
          </p:cNvSpPr>
          <p:nvPr/>
        </p:nvSpPr>
        <p:spPr>
          <a:xfrm>
            <a:off x="2400300" y="21240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2 fit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6E2344-4FB9-4677-B1E3-30DE4ABBC7F4}"/>
              </a:ext>
            </a:extLst>
          </p:cNvPr>
          <p:cNvSpPr>
            <a:spLocks noGrp="1"/>
          </p:cNvSpPr>
          <p:nvPr/>
        </p:nvSpPr>
        <p:spPr>
          <a:xfrm>
            <a:off x="5162550" y="2124075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Selection signal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EA877F-2F61-45C5-A341-0D5E96F3FC83}"/>
              </a:ext>
            </a:extLst>
          </p:cNvPr>
          <p:cNvSpPr>
            <a:spLocks noGrp="1"/>
          </p:cNvSpPr>
          <p:nvPr/>
        </p:nvSpPr>
        <p:spPr>
          <a:xfrm>
            <a:off x="8305800" y="2124075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3 decision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5E2339-B346-46BA-A9A8-21A4789E6B6D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7B66A2-BD45-4ED1-9040-CB4D230428D2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10668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E08F48-7A5F-46EF-AA27-D3DCCA1D5CFD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1428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Native iOS ASR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C3348C-A6B8-4FDD-9EFA-31FAFE590198}"/>
              </a:ext>
            </a:extLst>
          </p:cNvPr>
          <p:cNvSpPr>
            <a:spLocks noGrp="1"/>
          </p:cNvSpPr>
          <p:nvPr/>
        </p:nvSpPr>
        <p:spPr>
          <a:xfrm>
            <a:off x="2400300" y="2476500"/>
            <a:ext cx="2571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Live partial/final text in the mobile 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6314D8-C01D-4ED3-B74A-704C7A5F3E9E}"/>
              </a:ext>
            </a:extLst>
          </p:cNvPr>
          <p:cNvSpPr>
            <a:spLocks noGrp="1"/>
          </p:cNvSpPr>
          <p:nvPr/>
        </p:nvSpPr>
        <p:spPr>
          <a:xfrm>
            <a:off x="5162550" y="2476500"/>
            <a:ext cx="2952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Best current fit in the iPhone 11 Pro manual pilot for fast reporting interaction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C23713-BBE8-4624-B6C9-51CFEC666B90}"/>
              </a:ext>
            </a:extLst>
          </p:cNvPr>
          <p:cNvSpPr>
            <a:spLocks noGrp="1"/>
          </p:cNvSpPr>
          <p:nvPr/>
        </p:nvSpPr>
        <p:spPr>
          <a:xfrm>
            <a:off x="8305800" y="2476500"/>
            <a:ext cx="2952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Advance this path first.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01DB81-DCB5-48FA-9F5D-0C3A36E75B7E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5FA00B-2924-48FA-BBDD-9C04B54AD70C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10668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9720F8-1650-41C9-8345-2F37A9E15D8C}"/>
              </a:ext>
            </a:extLst>
          </p:cNvPr>
          <p:cNvSpPr>
            <a:spLocks noGrp="1"/>
          </p:cNvSpPr>
          <p:nvPr/>
        </p:nvSpPr>
        <p:spPr>
          <a:xfrm>
            <a:off x="781050" y="3105150"/>
            <a:ext cx="1428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Whisper base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4FBC90-9972-45F7-8802-FE509CBFE7EC}"/>
              </a:ext>
            </a:extLst>
          </p:cNvPr>
          <p:cNvSpPr>
            <a:spLocks noGrp="1"/>
          </p:cNvSpPr>
          <p:nvPr/>
        </p:nvSpPr>
        <p:spPr>
          <a:xfrm>
            <a:off x="2400300" y="3105150"/>
            <a:ext cx="2571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Reliable offline multilingual baseline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7F1E43-18FF-4A58-999C-765A35177F54}"/>
              </a:ext>
            </a:extLst>
          </p:cNvPr>
          <p:cNvSpPr>
            <a:spLocks noGrp="1"/>
          </p:cNvSpPr>
          <p:nvPr/>
        </p:nvSpPr>
        <p:spPr>
          <a:xfrm>
            <a:off x="5162550" y="3105150"/>
            <a:ext cx="2952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Useful comparison model, but full-recording flow delays feedback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0320B3-34B3-4A66-8C11-04ABF9C3704F}"/>
              </a:ext>
            </a:extLst>
          </p:cNvPr>
          <p:cNvSpPr>
            <a:spLocks noGrp="1"/>
          </p:cNvSpPr>
          <p:nvPr/>
        </p:nvSpPr>
        <p:spPr>
          <a:xfrm>
            <a:off x="8305800" y="3105150"/>
            <a:ext cx="2952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Keep as benchmark.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C7CB17-D096-4237-8C85-97FD3940D4A5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AD1EC9-C17A-4962-8CD0-1BF1766B2C5C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668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704601-8780-440A-89FA-B5380755474E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428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Qwen3-ASR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4C98B1-654D-44C7-95E5-2702B52E8F58}"/>
              </a:ext>
            </a:extLst>
          </p:cNvPr>
          <p:cNvSpPr>
            <a:spLocks noGrp="1"/>
          </p:cNvSpPr>
          <p:nvPr/>
        </p:nvSpPr>
        <p:spPr>
          <a:xfrm>
            <a:off x="2400300" y="3733800"/>
            <a:ext cx="2571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Potential local advanced model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F801EF-4A89-4E58-B83A-066DD9E66357}"/>
              </a:ext>
            </a:extLst>
          </p:cNvPr>
          <p:cNvSpPr>
            <a:spLocks noGrp="1"/>
          </p:cNvSpPr>
          <p:nvPr/>
        </p:nvSpPr>
        <p:spPr>
          <a:xfrm>
            <a:off x="5162550" y="3733800"/>
            <a:ext cx="2952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Depends on local Sherpa model files; simulated streaming after VAD boundaries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7D0B6E-6284-4C3C-8BCF-48AAA795FD0A}"/>
              </a:ext>
            </a:extLst>
          </p:cNvPr>
          <p:cNvSpPr>
            <a:spLocks noGrp="1"/>
          </p:cNvSpPr>
          <p:nvPr/>
        </p:nvSpPr>
        <p:spPr>
          <a:xfrm>
            <a:off x="8305800" y="3733800"/>
            <a:ext cx="2952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Keep as candidate.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652620-137D-44C6-A26E-87AF6987C366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66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9CFF15-5B94-4256-AEC7-0677F6F8784A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10668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2DC490-7128-4B32-B9EB-70A645A2A3DA}"/>
              </a:ext>
            </a:extLst>
          </p:cNvPr>
          <p:cNvSpPr>
            <a:spLocks noGrp="1"/>
          </p:cNvSpPr>
          <p:nvPr/>
        </p:nvSpPr>
        <p:spPr>
          <a:xfrm>
            <a:off x="781050" y="4362450"/>
            <a:ext cx="1428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Parakeet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D2D970-BDFF-45BC-9F51-B5EF15D82A20}"/>
              </a:ext>
            </a:extLst>
          </p:cNvPr>
          <p:cNvSpPr>
            <a:spLocks noGrp="1"/>
          </p:cNvSpPr>
          <p:nvPr/>
        </p:nvSpPr>
        <p:spPr>
          <a:xfrm>
            <a:off x="2400300" y="4362450"/>
            <a:ext cx="2571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Available only when configured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91657E-76E7-42AB-8A11-1A1111BD871F}"/>
              </a:ext>
            </a:extLst>
          </p:cNvPr>
          <p:cNvSpPr>
            <a:spLocks noGrp="1"/>
          </p:cNvSpPr>
          <p:nvPr/>
        </p:nvSpPr>
        <p:spPr>
          <a:xfrm>
            <a:off x="5162550" y="4362450"/>
            <a:ext cx="2952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Comparison path, not the selected Phase 3 implementation target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97361C-21EC-44F2-9195-18BAD0D0C818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2952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Do not optimize first.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8258BB-D8E9-48BA-BCC3-C092A5C5EAA3}"/>
              </a:ext>
            </a:extLst>
          </p:cNvPr>
          <p:cNvSpPr>
            <a:spLocks noGrp="1"/>
          </p:cNvSpPr>
          <p:nvPr/>
        </p:nvSpPr>
        <p:spPr>
          <a:xfrm>
            <a:off x="1581150" y="5410200"/>
            <a:ext cx="9029700" cy="476250"/>
          </a:xfrm>
          <a:prstGeom prst="rect">
            <a:avLst/>
          </a:prstGeom>
          <a:solidFill>
            <a:srgbClr val="F5E7C8"/>
          </a:solidFill>
          <a:ln w="9525">
            <a:solidFill>
              <a:srgbClr val="B7791F"/>
            </a:solidFill>
            <a:prstDash val="solid"/>
          </a:ln>
        </p:spPr>
        <p:txBody>
          <a:bodyPr lIns="114300" tIns="95250" rIns="114300" bIns="95250" anchor="t"/>
          <a:lstStyle/>
          <a:p>
            <a:pPr algn="l">
              <a:defRPr sz="90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Important thesis wording: Phase 3 does not fine-tune Apple's ASR model. It improves how Native iOS ASR is configured, observed, measured, and integrated into the prototype.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08A1E85-8C30-4506-873D-182C1F346F58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A5B4953-4C64-418E-A642-DB8AD03C9B75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Sources: phase-3 doc; no committed aggregate WER/CER CSV was found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C51C04A-A3BC-42E8-876A-EC93DFDCB190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77793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3D7B2514-D956-4869-8417-8FEDE8EACE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D5B7CC-2C66-4022-A444-040D3A00BE1E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59247D-C13D-4922-807A-7488A4AC4006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PHASE 3 SELECTION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2D0067-4800-4FA9-BC66-89B7F7C43D16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selected model path was improved around the workflow, not by retraining the recognizer.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515D8A-A28C-47B4-AD8F-9C191CEE8A53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2095500" cy="819150"/>
          </a:xfrm>
          <a:prstGeom prst="rect">
            <a:avLst/>
          </a:prstGeom>
          <a:solidFill>
            <a:srgbClr val="E7EEF8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2CEAFB-CD92-4840-A55A-C9CE7A673639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1828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Phase 2 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F67B45-6FA2-490F-AF61-F9477D0AC02A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1828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Manual pilot showed Native iOS best fit for live iOS reporting.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9C3567-B1D7-4376-A3D1-BDC44815C2A4}"/>
              </a:ext>
            </a:extLst>
          </p:cNvPr>
          <p:cNvSpPr>
            <a:spLocks noGrp="1"/>
          </p:cNvSpPr>
          <p:nvPr/>
        </p:nvSpPr>
        <p:spPr>
          <a:xfrm>
            <a:off x="3638550" y="2190750"/>
            <a:ext cx="2095500" cy="819150"/>
          </a:xfrm>
          <a:prstGeom prst="rect">
            <a:avLst/>
          </a:prstGeom>
          <a:solidFill>
            <a:srgbClr val="E5F3EF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0D040B-7AEC-493B-9EA2-FBBDFA146049}"/>
              </a:ext>
            </a:extLst>
          </p:cNvPr>
          <p:cNvSpPr>
            <a:spLocks noGrp="1"/>
          </p:cNvSpPr>
          <p:nvPr/>
        </p:nvSpPr>
        <p:spPr>
          <a:xfrm>
            <a:off x="3771900" y="2286000"/>
            <a:ext cx="1828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Workflow need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A42826-F493-49A8-A2E5-29AD2E060522}"/>
              </a:ext>
            </a:extLst>
          </p:cNvPr>
          <p:cNvSpPr>
            <a:spLocks noGrp="1"/>
          </p:cNvSpPr>
          <p:nvPr/>
        </p:nvSpPr>
        <p:spPr>
          <a:xfrm>
            <a:off x="3771900" y="2571750"/>
            <a:ext cx="1828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User speaks on site and sees feedback before moving to extraction.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6BEBBC-CB11-490F-9CD5-5EDFB8B45024}"/>
              </a:ext>
            </a:extLst>
          </p:cNvPr>
          <p:cNvSpPr>
            <a:spLocks noGrp="1"/>
          </p:cNvSpPr>
          <p:nvPr/>
        </p:nvSpPr>
        <p:spPr>
          <a:xfrm>
            <a:off x="6496050" y="2190750"/>
            <a:ext cx="2095500" cy="819150"/>
          </a:xfrm>
          <a:prstGeom prst="rect">
            <a:avLst/>
          </a:prstGeom>
          <a:solidFill>
            <a:srgbClr val="F5E7C8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919BF8-7475-49FD-ADA3-0D16028142F7}"/>
              </a:ext>
            </a:extLst>
          </p:cNvPr>
          <p:cNvSpPr>
            <a:spLocks noGrp="1"/>
          </p:cNvSpPr>
          <p:nvPr/>
        </p:nvSpPr>
        <p:spPr>
          <a:xfrm>
            <a:off x="6629400" y="2286000"/>
            <a:ext cx="1828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Selected path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160FB0-8D68-4122-BB02-1B531A9E4C12}"/>
              </a:ext>
            </a:extLst>
          </p:cNvPr>
          <p:cNvSpPr>
            <a:spLocks noGrp="1"/>
          </p:cNvSpPr>
          <p:nvPr/>
        </p:nvSpPr>
        <p:spPr>
          <a:xfrm>
            <a:off x="6629400" y="2571750"/>
            <a:ext cx="1828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Native iOS ASR becomes the Phase 3 focus.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886CE-9948-4716-B666-76FD9AA9BCC6}"/>
              </a:ext>
            </a:extLst>
          </p:cNvPr>
          <p:cNvSpPr>
            <a:spLocks noGrp="1"/>
          </p:cNvSpPr>
          <p:nvPr/>
        </p:nvSpPr>
        <p:spPr>
          <a:xfrm>
            <a:off x="9353550" y="2190750"/>
            <a:ext cx="2095500" cy="819150"/>
          </a:xfrm>
          <a:prstGeom prst="rect">
            <a:avLst/>
          </a:prstGeom>
          <a:solidFill>
            <a:srgbClr val="EDE4F8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26CADA-685C-4455-8D79-DFFB45440482}"/>
              </a:ext>
            </a:extLst>
          </p:cNvPr>
          <p:cNvSpPr>
            <a:spLocks noGrp="1"/>
          </p:cNvSpPr>
          <p:nvPr/>
        </p:nvSpPr>
        <p:spPr>
          <a:xfrm>
            <a:off x="9486900" y="2286000"/>
            <a:ext cx="1828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Improvement scope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91204E-CA73-454D-983D-31038A66566A}"/>
              </a:ext>
            </a:extLst>
          </p:cNvPr>
          <p:cNvSpPr>
            <a:spLocks noGrp="1"/>
          </p:cNvSpPr>
          <p:nvPr/>
        </p:nvSpPr>
        <p:spPr>
          <a:xfrm>
            <a:off x="9486900" y="2571750"/>
            <a:ext cx="1828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Configure, measure, preserve raw transcript, and log capabilities.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10564D-C970-4E6C-8AEB-40F55226C738}"/>
              </a:ext>
            </a:extLst>
          </p:cNvPr>
          <p:cNvSpPr>
            <a:spLocks noGrp="1"/>
          </p:cNvSpPr>
          <p:nvPr/>
        </p:nvSpPr>
        <p:spPr>
          <a:xfrm>
            <a:off x="2952750" y="2600325"/>
            <a:ext cx="457200" cy="14288"/>
          </a:xfrm>
          <a:prstGeom prst="rect">
            <a:avLst/>
          </a:prstGeom>
          <a:solidFill>
            <a:srgbClr val="5F6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E8980C-D4CB-4F3E-B380-9287278F272F}"/>
              </a:ext>
            </a:extLst>
          </p:cNvPr>
          <p:cNvSpPr>
            <a:spLocks noGrp="1"/>
          </p:cNvSpPr>
          <p:nvPr/>
        </p:nvSpPr>
        <p:spPr>
          <a:xfrm>
            <a:off x="3390900" y="249555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B6A788-D2F4-4CB4-B184-11B50C637D8E}"/>
              </a:ext>
            </a:extLst>
          </p:cNvPr>
          <p:cNvSpPr>
            <a:spLocks noGrp="1"/>
          </p:cNvSpPr>
          <p:nvPr/>
        </p:nvSpPr>
        <p:spPr>
          <a:xfrm>
            <a:off x="5810250" y="2600325"/>
            <a:ext cx="457200" cy="14288"/>
          </a:xfrm>
          <a:prstGeom prst="rect">
            <a:avLst/>
          </a:prstGeom>
          <a:solidFill>
            <a:srgbClr val="5F6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A3E7DF-B1FB-44D9-85F8-EF7D8ACA81CF}"/>
              </a:ext>
            </a:extLst>
          </p:cNvPr>
          <p:cNvSpPr>
            <a:spLocks noGrp="1"/>
          </p:cNvSpPr>
          <p:nvPr/>
        </p:nvSpPr>
        <p:spPr>
          <a:xfrm>
            <a:off x="6248400" y="249555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4B8837-979C-4820-82A4-9C0E46E1A41F}"/>
              </a:ext>
            </a:extLst>
          </p:cNvPr>
          <p:cNvSpPr>
            <a:spLocks noGrp="1"/>
          </p:cNvSpPr>
          <p:nvPr/>
        </p:nvSpPr>
        <p:spPr>
          <a:xfrm>
            <a:off x="8667750" y="2600325"/>
            <a:ext cx="457200" cy="14288"/>
          </a:xfrm>
          <a:prstGeom prst="rect">
            <a:avLst/>
          </a:prstGeom>
          <a:solidFill>
            <a:srgbClr val="5F6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5CE903-80A3-4A89-822A-595F8FC85952}"/>
              </a:ext>
            </a:extLst>
          </p:cNvPr>
          <p:cNvSpPr>
            <a:spLocks noGrp="1"/>
          </p:cNvSpPr>
          <p:nvPr/>
        </p:nvSpPr>
        <p:spPr>
          <a:xfrm>
            <a:off x="9105900" y="249555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0ECC0D-D0AD-44AB-AF33-DB3529B5B04F}"/>
              </a:ext>
            </a:extLst>
          </p:cNvPr>
          <p:cNvSpPr>
            <a:spLocks noGrp="1"/>
          </p:cNvSpPr>
          <p:nvPr/>
        </p:nvSpPr>
        <p:spPr>
          <a:xfrm>
            <a:off x="1466850" y="3810000"/>
            <a:ext cx="2476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8B216C-CCBD-4605-A3D9-699E529824AD}"/>
              </a:ext>
            </a:extLst>
          </p:cNvPr>
          <p:cNvSpPr>
            <a:spLocks noGrp="1"/>
          </p:cNvSpPr>
          <p:nvPr/>
        </p:nvSpPr>
        <p:spPr>
          <a:xfrm>
            <a:off x="1905000" y="3695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Custom Expo native module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7A383F-24DB-435D-842E-59B4CF4F2F17}"/>
              </a:ext>
            </a:extLst>
          </p:cNvPr>
          <p:cNvSpPr>
            <a:spLocks noGrp="1"/>
          </p:cNvSpPr>
          <p:nvPr/>
        </p:nvSpPr>
        <p:spPr>
          <a:xfrm>
            <a:off x="4552950" y="36957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Exposes Apple Speech request configuration React Native could not access.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80D658-A19B-4275-BF91-7D5212D3DD9C}"/>
              </a:ext>
            </a:extLst>
          </p:cNvPr>
          <p:cNvSpPr>
            <a:spLocks noGrp="1"/>
          </p:cNvSpPr>
          <p:nvPr/>
        </p:nvSpPr>
        <p:spPr>
          <a:xfrm>
            <a:off x="1466850" y="4210050"/>
            <a:ext cx="24765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AE1F2E-1CC8-4675-B427-887C7A9E9036}"/>
              </a:ext>
            </a:extLst>
          </p:cNvPr>
          <p:cNvSpPr>
            <a:spLocks noGrp="1"/>
          </p:cNvSpPr>
          <p:nvPr/>
        </p:nvSpPr>
        <p:spPr>
          <a:xfrm>
            <a:off x="1905000" y="40957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Contextual strings scaffold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DAB249-A50C-4C95-815F-66B52078ABC6}"/>
              </a:ext>
            </a:extLst>
          </p:cNvPr>
          <p:cNvSpPr>
            <a:spLocks noGrp="1"/>
          </p:cNvSpPr>
          <p:nvPr/>
        </p:nvSpPr>
        <p:spPr>
          <a:xfrm>
            <a:off x="4552950" y="409575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Up to 90 short construction terms, split EN/FI, disabled by default.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A49CA3-E051-40A4-81E3-51EA3DEB7E1E}"/>
              </a:ext>
            </a:extLst>
          </p:cNvPr>
          <p:cNvSpPr>
            <a:spLocks noGrp="1"/>
          </p:cNvSpPr>
          <p:nvPr/>
        </p:nvSpPr>
        <p:spPr>
          <a:xfrm>
            <a:off x="1466850" y="4610100"/>
            <a:ext cx="2476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9CCF2F-94A7-4932-B732-CA171B8E8B75}"/>
              </a:ext>
            </a:extLst>
          </p:cNvPr>
          <p:cNvSpPr>
            <a:spLocks noGrp="1"/>
          </p:cNvSpPr>
          <p:nvPr/>
        </p:nvSpPr>
        <p:spPr>
          <a:xfrm>
            <a:off x="1905000" y="44958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Punctuation scaffold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D10EED-C790-4414-BBFA-A2C0E37907CF}"/>
              </a:ext>
            </a:extLst>
          </p:cNvPr>
          <p:cNvSpPr>
            <a:spLocks noGrp="1"/>
          </p:cNvSpPr>
          <p:nvPr/>
        </p:nvSpPr>
        <p:spPr>
          <a:xfrm>
            <a:off x="4552950" y="44958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iOS 16+ addsPunctuation toggle, measured separately from WER/CER.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4227D1E-C4F9-4485-B3CA-ADEE5D19E766}"/>
              </a:ext>
            </a:extLst>
          </p:cNvPr>
          <p:cNvSpPr>
            <a:spLocks noGrp="1"/>
          </p:cNvSpPr>
          <p:nvPr/>
        </p:nvSpPr>
        <p:spPr>
          <a:xfrm>
            <a:off x="1466850" y="5010150"/>
            <a:ext cx="24765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8BAC77-8058-4237-92CF-E2BF9D91A4AF}"/>
              </a:ext>
            </a:extLst>
          </p:cNvPr>
          <p:cNvSpPr>
            <a:spLocks noGrp="1"/>
          </p:cNvSpPr>
          <p:nvPr/>
        </p:nvSpPr>
        <p:spPr>
          <a:xfrm>
            <a:off x="1905000" y="48958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On-device policy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B73E79-F9A0-4B40-8A3A-06D28B1DBF89}"/>
              </a:ext>
            </a:extLst>
          </p:cNvPr>
          <p:cNvSpPr>
            <a:spLocks noGrp="1"/>
          </p:cNvSpPr>
          <p:nvPr/>
        </p:nvSpPr>
        <p:spPr>
          <a:xfrm>
            <a:off x="4552950" y="489585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prefer / require / allowNetwork with capability checks and privacy mode logging.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7EE7ACE-EB67-4ED7-A305-CFC9E9D3C31F}"/>
              </a:ext>
            </a:extLst>
          </p:cNvPr>
          <p:cNvSpPr>
            <a:spLocks noGrp="1"/>
          </p:cNvSpPr>
          <p:nvPr/>
        </p:nvSpPr>
        <p:spPr>
          <a:xfrm>
            <a:off x="1466850" y="5410200"/>
            <a:ext cx="2476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A2A6912-0B2E-4FFC-88D4-FEA5EBC063A0}"/>
              </a:ext>
            </a:extLst>
          </p:cNvPr>
          <p:cNvSpPr>
            <a:spLocks noGrp="1"/>
          </p:cNvSpPr>
          <p:nvPr/>
        </p:nvSpPr>
        <p:spPr>
          <a:xfrm>
            <a:off x="1905000" y="52959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Pause-aware accumulator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B6C5E72-D164-41D6-A739-7BAB2D587954}"/>
              </a:ext>
            </a:extLst>
          </p:cNvPr>
          <p:cNvSpPr>
            <a:spLocks noGrp="1"/>
          </p:cNvSpPr>
          <p:nvPr/>
        </p:nvSpPr>
        <p:spPr>
          <a:xfrm>
            <a:off x="4552950" y="52959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Preserves earlier phrases when Apple Speech revises text after pauses.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ED74D8-F72C-4E99-B45A-BE4820B5A3FE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1D0FE8A-0347-4036-8C88-DB701F493F05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Sources: phase-3 doc, Native ASR Phase 3 types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1640A78-712D-4041-BD7D-F276EA5491D2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79810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E29921C0-34D4-452A-BF07-CB7BF8034E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BB41DD-96AC-46FB-A0B6-3473F2E87ACB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57150" cy="2095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98139-CF99-45BD-8F00-2C187917BF6E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PHASE 3 NATIVE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FEF71F-3426-4CEA-8917-5EE2F44CB475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7810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React Native owns the experiment; Swift owns Apple Speech.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B02EB-3CAC-4A8D-82B8-ECF657342F81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1809750" cy="81915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5FE902-B096-4F44-97BC-E3E771654480}"/>
              </a:ext>
            </a:extLst>
          </p:cNvPr>
          <p:cNvSpPr>
            <a:spLocks noGrp="1"/>
          </p:cNvSpPr>
          <p:nvPr/>
        </p:nvSpPr>
        <p:spPr>
          <a:xfrm>
            <a:off x="838200" y="23431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3 UI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7DD2F7-B9FA-4D31-9F84-8FD4920B3AD1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language, session, toggles, save/export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DD830E-756A-4FE4-912E-EAF9AC28C09B}"/>
              </a:ext>
            </a:extLst>
          </p:cNvPr>
          <p:cNvSpPr>
            <a:spLocks noGrp="1"/>
          </p:cNvSpPr>
          <p:nvPr/>
        </p:nvSpPr>
        <p:spPr>
          <a:xfrm>
            <a:off x="3009900" y="2247900"/>
            <a:ext cx="1809750" cy="81915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A4F44A-A4E1-4D61-8B1C-B502F8E769EC}"/>
              </a:ext>
            </a:extLst>
          </p:cNvPr>
          <p:cNvSpPr>
            <a:spLocks noGrp="1"/>
          </p:cNvSpPr>
          <p:nvPr/>
        </p:nvSpPr>
        <p:spPr>
          <a:xfrm>
            <a:off x="3143250" y="23431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NativeASR config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4BBF10-C4AC-4974-AB8A-5FFB40D4F4AF}"/>
              </a:ext>
            </a:extLst>
          </p:cNvPr>
          <p:cNvSpPr>
            <a:spLocks noGrp="1"/>
          </p:cNvSpPr>
          <p:nvPr/>
        </p:nvSpPr>
        <p:spPr>
          <a:xfrm>
            <a:off x="3143250" y="2628900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locale, policy, context, punctuation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484EC4-E159-43CD-9DA6-B79DFC2E832A}"/>
              </a:ext>
            </a:extLst>
          </p:cNvPr>
          <p:cNvSpPr>
            <a:spLocks noGrp="1"/>
          </p:cNvSpPr>
          <p:nvPr/>
        </p:nvSpPr>
        <p:spPr>
          <a:xfrm>
            <a:off x="5314950" y="2247900"/>
            <a:ext cx="1809750" cy="81915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4A1682-069F-48BC-9210-E47EE374CE71}"/>
              </a:ext>
            </a:extLst>
          </p:cNvPr>
          <p:cNvSpPr>
            <a:spLocks noGrp="1"/>
          </p:cNvSpPr>
          <p:nvPr/>
        </p:nvSpPr>
        <p:spPr>
          <a:xfrm>
            <a:off x="5448300" y="23431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TS bridge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CB251B-E653-482F-8790-4B3A5F1B9A8E}"/>
              </a:ext>
            </a:extLst>
          </p:cNvPr>
          <p:cNvSpPr>
            <a:spLocks noGrp="1"/>
          </p:cNvSpPr>
          <p:nvPr/>
        </p:nvSpPr>
        <p:spPr>
          <a:xfrm>
            <a:off x="5448300" y="2628900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nativeIOSASRModule.ts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AA8B4C-1808-4C4B-B42B-DF15A7457781}"/>
              </a:ext>
            </a:extLst>
          </p:cNvPr>
          <p:cNvSpPr>
            <a:spLocks noGrp="1"/>
          </p:cNvSpPr>
          <p:nvPr/>
        </p:nvSpPr>
        <p:spPr>
          <a:xfrm>
            <a:off x="7620000" y="2247900"/>
            <a:ext cx="1809750" cy="81915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21B98A-A1C8-4A22-857C-7A9A04BEFAE6}"/>
              </a:ext>
            </a:extLst>
          </p:cNvPr>
          <p:cNvSpPr>
            <a:spLocks noGrp="1"/>
          </p:cNvSpPr>
          <p:nvPr/>
        </p:nvSpPr>
        <p:spPr>
          <a:xfrm>
            <a:off x="7753350" y="23431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Swift module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7021E7-92CA-4FD9-B3D0-5C90D257127A}"/>
              </a:ext>
            </a:extLst>
          </p:cNvPr>
          <p:cNvSpPr>
            <a:spLocks noGrp="1"/>
          </p:cNvSpPr>
          <p:nvPr/>
        </p:nvSpPr>
        <p:spPr>
          <a:xfrm>
            <a:off x="7753350" y="2628900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NativeIOSASRModule.swift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866A3F-6E3B-4B23-B5B0-FEF7D41F72EC}"/>
              </a:ext>
            </a:extLst>
          </p:cNvPr>
          <p:cNvSpPr>
            <a:spLocks noGrp="1"/>
          </p:cNvSpPr>
          <p:nvPr/>
        </p:nvSpPr>
        <p:spPr>
          <a:xfrm>
            <a:off x="9925050" y="2247900"/>
            <a:ext cx="1524000" cy="81915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AF0C52-300C-4793-8791-8BA99D3F6310}"/>
              </a:ext>
            </a:extLst>
          </p:cNvPr>
          <p:cNvSpPr>
            <a:spLocks noGrp="1"/>
          </p:cNvSpPr>
          <p:nvPr/>
        </p:nvSpPr>
        <p:spPr>
          <a:xfrm>
            <a:off x="10058400" y="234315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Apple Speech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A4CC71-8516-45F6-871A-04AC632BE42D}"/>
              </a:ext>
            </a:extLst>
          </p:cNvPr>
          <p:cNvSpPr>
            <a:spLocks noGrp="1"/>
          </p:cNvSpPr>
          <p:nvPr/>
        </p:nvSpPr>
        <p:spPr>
          <a:xfrm>
            <a:off x="10058400" y="2628900"/>
            <a:ext cx="1257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SFSpeechRecognizer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8404E4-F1E5-4FB3-AFB1-81B0741EA3F7}"/>
              </a:ext>
            </a:extLst>
          </p:cNvPr>
          <p:cNvSpPr>
            <a:spLocks noGrp="1"/>
          </p:cNvSpPr>
          <p:nvPr/>
        </p:nvSpPr>
        <p:spPr>
          <a:xfrm>
            <a:off x="2609850" y="2657475"/>
            <a:ext cx="266700" cy="14288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808FAC-60E9-4CA5-8242-E4BCCC7EBF83}"/>
              </a:ext>
            </a:extLst>
          </p:cNvPr>
          <p:cNvSpPr>
            <a:spLocks noGrp="1"/>
          </p:cNvSpPr>
          <p:nvPr/>
        </p:nvSpPr>
        <p:spPr>
          <a:xfrm>
            <a:off x="2857500" y="255270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7ED246-BC5A-4755-8355-416428B6CEBA}"/>
              </a:ext>
            </a:extLst>
          </p:cNvPr>
          <p:cNvSpPr>
            <a:spLocks noGrp="1"/>
          </p:cNvSpPr>
          <p:nvPr/>
        </p:nvSpPr>
        <p:spPr>
          <a:xfrm>
            <a:off x="4914900" y="2657475"/>
            <a:ext cx="266700" cy="14288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BA79AE-60F3-400C-BF81-9BA2CC667603}"/>
              </a:ext>
            </a:extLst>
          </p:cNvPr>
          <p:cNvSpPr>
            <a:spLocks noGrp="1"/>
          </p:cNvSpPr>
          <p:nvPr/>
        </p:nvSpPr>
        <p:spPr>
          <a:xfrm>
            <a:off x="5162550" y="255270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5B3F10-46BE-485F-B2B7-266E7896C3EC}"/>
              </a:ext>
            </a:extLst>
          </p:cNvPr>
          <p:cNvSpPr>
            <a:spLocks noGrp="1"/>
          </p:cNvSpPr>
          <p:nvPr/>
        </p:nvSpPr>
        <p:spPr>
          <a:xfrm>
            <a:off x="7219950" y="2657475"/>
            <a:ext cx="266700" cy="14288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A0E391-213E-49EF-8EE8-C022DF302F4D}"/>
              </a:ext>
            </a:extLst>
          </p:cNvPr>
          <p:cNvSpPr>
            <a:spLocks noGrp="1"/>
          </p:cNvSpPr>
          <p:nvPr/>
        </p:nvSpPr>
        <p:spPr>
          <a:xfrm>
            <a:off x="7467600" y="255270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90BADF-5A84-4F58-AB7A-495EF94D45EB}"/>
              </a:ext>
            </a:extLst>
          </p:cNvPr>
          <p:cNvSpPr>
            <a:spLocks noGrp="1"/>
          </p:cNvSpPr>
          <p:nvPr/>
        </p:nvSpPr>
        <p:spPr>
          <a:xfrm>
            <a:off x="9525000" y="2657475"/>
            <a:ext cx="266700" cy="14288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CF6636-151D-41C1-925A-78B5EA7A6C80}"/>
              </a:ext>
            </a:extLst>
          </p:cNvPr>
          <p:cNvSpPr>
            <a:spLocks noGrp="1"/>
          </p:cNvSpPr>
          <p:nvPr/>
        </p:nvSpPr>
        <p:spPr>
          <a:xfrm>
            <a:off x="9772650" y="255270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F42316-2D0B-4C72-ABE7-39AA372F3393}"/>
              </a:ext>
            </a:extLst>
          </p:cNvPr>
          <p:cNvSpPr>
            <a:spLocks noGrp="1"/>
          </p:cNvSpPr>
          <p:nvPr/>
        </p:nvSpPr>
        <p:spPr>
          <a:xfrm>
            <a:off x="2990850" y="4095750"/>
            <a:ext cx="2095500" cy="838200"/>
          </a:xfrm>
          <a:prstGeom prst="rect">
            <a:avLst/>
          </a:prstGeom>
          <a:solidFill>
            <a:srgbClr val="0F172A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99C091-B3B5-4853-B97A-7BB8E9CA8AE6}"/>
              </a:ext>
            </a:extLst>
          </p:cNvPr>
          <p:cNvSpPr>
            <a:spLocks noGrp="1"/>
          </p:cNvSpPr>
          <p:nvPr/>
        </p:nvSpPr>
        <p:spPr>
          <a:xfrm>
            <a:off x="3124200" y="4191000"/>
            <a:ext cx="1828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Events back to UI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0A42AD-8391-4F53-B762-D64C34812BA2}"/>
              </a:ext>
            </a:extLst>
          </p:cNvPr>
          <p:cNvSpPr>
            <a:spLocks noGrp="1"/>
          </p:cNvSpPr>
          <p:nvPr/>
        </p:nvSpPr>
        <p:spPr>
          <a:xfrm>
            <a:off x="3124200" y="4476750"/>
            <a:ext cx="1828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onPartialResult, onFinalResult, onMetrics, onError, onState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F0B71F-13B9-439C-A58F-84CFC985611D}"/>
              </a:ext>
            </a:extLst>
          </p:cNvPr>
          <p:cNvSpPr>
            <a:spLocks noGrp="1"/>
          </p:cNvSpPr>
          <p:nvPr/>
        </p:nvSpPr>
        <p:spPr>
          <a:xfrm>
            <a:off x="5772150" y="4095750"/>
            <a:ext cx="2095500" cy="838200"/>
          </a:xfrm>
          <a:prstGeom prst="rect">
            <a:avLst/>
          </a:prstGeom>
          <a:solidFill>
            <a:srgbClr val="0F172A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C03639-1AB3-46B8-B996-7338708F64E4}"/>
              </a:ext>
            </a:extLst>
          </p:cNvPr>
          <p:cNvSpPr>
            <a:spLocks noGrp="1"/>
          </p:cNvSpPr>
          <p:nvPr/>
        </p:nvSpPr>
        <p:spPr>
          <a:xfrm>
            <a:off x="5905500" y="4191000"/>
            <a:ext cx="1828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 builder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FB0092E-3027-4D64-BECF-02FDD8E58CAE}"/>
              </a:ext>
            </a:extLst>
          </p:cNvPr>
          <p:cNvSpPr>
            <a:spLocks noGrp="1"/>
          </p:cNvSpPr>
          <p:nvPr/>
        </p:nvSpPr>
        <p:spPr>
          <a:xfrm>
            <a:off x="5905500" y="4476750"/>
            <a:ext cx="1828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raw, normalized, improved transcript and WER/CER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398810C-18CF-4FE8-8413-D7B25FE00AC4}"/>
              </a:ext>
            </a:extLst>
          </p:cNvPr>
          <p:cNvSpPr>
            <a:spLocks noGrp="1"/>
          </p:cNvSpPr>
          <p:nvPr/>
        </p:nvSpPr>
        <p:spPr>
          <a:xfrm>
            <a:off x="8553450" y="4095750"/>
            <a:ext cx="2095500" cy="838200"/>
          </a:xfrm>
          <a:prstGeom prst="rect">
            <a:avLst/>
          </a:prstGeom>
          <a:solidFill>
            <a:srgbClr val="0F172A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EE06C9-F995-4F7F-8C35-1FB0EDA565EA}"/>
              </a:ext>
            </a:extLst>
          </p:cNvPr>
          <p:cNvSpPr>
            <a:spLocks noGrp="1"/>
          </p:cNvSpPr>
          <p:nvPr/>
        </p:nvSpPr>
        <p:spPr>
          <a:xfrm>
            <a:off x="8686800" y="4191000"/>
            <a:ext cx="1828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storage + CSV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BCDDEA-ACAD-4480-8E85-7A117BEB3FC6}"/>
              </a:ext>
            </a:extLst>
          </p:cNvPr>
          <p:cNvSpPr>
            <a:spLocks noGrp="1"/>
          </p:cNvSpPr>
          <p:nvPr/>
        </p:nvSpPr>
        <p:spPr>
          <a:xfrm>
            <a:off x="8686800" y="4476750"/>
            <a:ext cx="1828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phase3-native-ios-asr export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C312FC-E679-408C-B1DE-1F81A721DCA9}"/>
              </a:ext>
            </a:extLst>
          </p:cNvPr>
          <p:cNvSpPr>
            <a:spLocks noGrp="1"/>
          </p:cNvSpPr>
          <p:nvPr/>
        </p:nvSpPr>
        <p:spPr>
          <a:xfrm>
            <a:off x="5848350" y="3505200"/>
            <a:ext cx="2343150" cy="9525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265B686-C1AA-445E-883D-369477AF85EA}"/>
              </a:ext>
            </a:extLst>
          </p:cNvPr>
          <p:cNvSpPr>
            <a:spLocks noGrp="1"/>
          </p:cNvSpPr>
          <p:nvPr/>
        </p:nvSpPr>
        <p:spPr>
          <a:xfrm>
            <a:off x="6667500" y="32956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events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5A48B9D-6A81-4923-8793-7836C931AEF6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C3C5CCF-72F0-4B19-9947-5D8505BF8B0D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Sources: phase-3 doc, nativeIOSASRModule.ts, NativeIOSASRModule.swift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B7026E2-B1C4-40DD-A4DB-F645A0350607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31932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3BE29AB-C7E7-4B21-B46A-7C2638D68C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9BC012-9D9B-47AB-8383-2D54082ADD5B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FA0271-140F-40FE-B497-BB90D9ABD9E3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PHASE 3 IMPROVEMENTS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2722A7-347D-4B01-9816-CD5684492E26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Phase 3 made Native iOS ASR configurable, observable, and defensible.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BBBD3A-923F-4177-BEE5-5C23B8AF1A9F}"/>
              </a:ext>
            </a:extLst>
          </p:cNvPr>
          <p:cNvSpPr>
            <a:spLocks noGrp="1"/>
          </p:cNvSpPr>
          <p:nvPr/>
        </p:nvSpPr>
        <p:spPr>
          <a:xfrm>
            <a:off x="723900" y="2076450"/>
            <a:ext cx="3048000" cy="1104900"/>
          </a:xfrm>
          <a:prstGeom prst="rect">
            <a:avLst/>
          </a:prstGeom>
          <a:solidFill>
            <a:srgbClr val="E7EEF8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B1032C-2CB7-4AF5-BE86-F896BAA98995}"/>
              </a:ext>
            </a:extLst>
          </p:cNvPr>
          <p:cNvSpPr>
            <a:spLocks noGrp="1"/>
          </p:cNvSpPr>
          <p:nvPr/>
        </p:nvSpPr>
        <p:spPr>
          <a:xfrm>
            <a:off x="857250" y="2171700"/>
            <a:ext cx="278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Locale control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B1F6EF-1F4E-47AA-BBF2-FAC01E6C8852}"/>
              </a:ext>
            </a:extLst>
          </p:cNvPr>
          <p:cNvSpPr>
            <a:spLocks noGrp="1"/>
          </p:cNvSpPr>
          <p:nvPr/>
        </p:nvSpPr>
        <p:spPr>
          <a:xfrm>
            <a:off x="857250" y="2457450"/>
            <a:ext cx="27813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en-US / fi-FI are sent to SFSpeechRecognizer so availability and support are device-locale specific.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9ADD9E-7642-46F9-A3C9-39008F4F0D7A}"/>
              </a:ext>
            </a:extLst>
          </p:cNvPr>
          <p:cNvSpPr>
            <a:spLocks noGrp="1"/>
          </p:cNvSpPr>
          <p:nvPr/>
        </p:nvSpPr>
        <p:spPr>
          <a:xfrm>
            <a:off x="4400550" y="2076450"/>
            <a:ext cx="3048000" cy="1104900"/>
          </a:xfrm>
          <a:prstGeom prst="rect">
            <a:avLst/>
          </a:prstGeom>
          <a:solidFill>
            <a:srgbClr val="E5F3EF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C41027-DFD2-4036-8236-40A93D8CC6D3}"/>
              </a:ext>
            </a:extLst>
          </p:cNvPr>
          <p:cNvSpPr>
            <a:spLocks noGrp="1"/>
          </p:cNvSpPr>
          <p:nvPr/>
        </p:nvSpPr>
        <p:spPr>
          <a:xfrm>
            <a:off x="4533900" y="2171700"/>
            <a:ext cx="278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On-device policy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64B659-DFE5-45AF-B3B2-1A500DFC8569}"/>
              </a:ext>
            </a:extLst>
          </p:cNvPr>
          <p:cNvSpPr>
            <a:spLocks noGrp="1"/>
          </p:cNvSpPr>
          <p:nvPr/>
        </p:nvSpPr>
        <p:spPr>
          <a:xfrm>
            <a:off x="4533900" y="2457450"/>
            <a:ext cx="27813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prefer, require, or allowNetwork. The module checks support before forcing offline recognition.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EC0A02-A303-493D-996F-5E87CC560040}"/>
              </a:ext>
            </a:extLst>
          </p:cNvPr>
          <p:cNvSpPr>
            <a:spLocks noGrp="1"/>
          </p:cNvSpPr>
          <p:nvPr/>
        </p:nvSpPr>
        <p:spPr>
          <a:xfrm>
            <a:off x="8077200" y="2076450"/>
            <a:ext cx="3048000" cy="1104900"/>
          </a:xfrm>
          <a:prstGeom prst="rect">
            <a:avLst/>
          </a:prstGeom>
          <a:solidFill>
            <a:srgbClr val="F5E7C8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F0A1B9-A99E-4BA9-B940-FC88A9A7D3F6}"/>
              </a:ext>
            </a:extLst>
          </p:cNvPr>
          <p:cNvSpPr>
            <a:spLocks noGrp="1"/>
          </p:cNvSpPr>
          <p:nvPr/>
        </p:nvSpPr>
        <p:spPr>
          <a:xfrm>
            <a:off x="8210550" y="2171700"/>
            <a:ext cx="278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Contextual strings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01116D-6D63-480E-A5CB-14C485EA4242}"/>
              </a:ext>
            </a:extLst>
          </p:cNvPr>
          <p:cNvSpPr>
            <a:spLocks noGrp="1"/>
          </p:cNvSpPr>
          <p:nvPr/>
        </p:nvSpPr>
        <p:spPr>
          <a:xfrm>
            <a:off x="8210550" y="2457450"/>
            <a:ext cx="27813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45 English + 45 Finnish construction phrases, enabled only for controlled experiments.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720FEE-B11E-4D8E-B936-F5A8425F62C0}"/>
              </a:ext>
            </a:extLst>
          </p:cNvPr>
          <p:cNvSpPr>
            <a:spLocks noGrp="1"/>
          </p:cNvSpPr>
          <p:nvPr/>
        </p:nvSpPr>
        <p:spPr>
          <a:xfrm>
            <a:off x="723900" y="3695700"/>
            <a:ext cx="3048000" cy="1104900"/>
          </a:xfrm>
          <a:prstGeom prst="rect">
            <a:avLst/>
          </a:prstGeom>
          <a:solidFill>
            <a:srgbClr val="EDE4F8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B7691D-2B86-4B77-9D9A-3E5741309F0A}"/>
              </a:ext>
            </a:extLst>
          </p:cNvPr>
          <p:cNvSpPr>
            <a:spLocks noGrp="1"/>
          </p:cNvSpPr>
          <p:nvPr/>
        </p:nvSpPr>
        <p:spPr>
          <a:xfrm>
            <a:off x="857250" y="3790950"/>
            <a:ext cx="278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Punctuation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E756F6-AEF1-47F1-8117-4A477D685122}"/>
              </a:ext>
            </a:extLst>
          </p:cNvPr>
          <p:cNvSpPr>
            <a:spLocks noGrp="1"/>
          </p:cNvSpPr>
          <p:nvPr/>
        </p:nvSpPr>
        <p:spPr>
          <a:xfrm>
            <a:off x="857250" y="4076700"/>
            <a:ext cx="27813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addsPunctuation is logged separately because readability can improve even when normalized WER is unchanged.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A1C061-9651-439F-98FC-56EA2903AE30}"/>
              </a:ext>
            </a:extLst>
          </p:cNvPr>
          <p:cNvSpPr>
            <a:spLocks noGrp="1"/>
          </p:cNvSpPr>
          <p:nvPr/>
        </p:nvSpPr>
        <p:spPr>
          <a:xfrm>
            <a:off x="4400550" y="3695700"/>
            <a:ext cx="3048000" cy="1104900"/>
          </a:xfrm>
          <a:prstGeom prst="rect">
            <a:avLst/>
          </a:prstGeom>
          <a:solidFill>
            <a:srgbClr val="F3F4F6"/>
          </a:solidFill>
          <a:ln w="9525">
            <a:solidFill>
              <a:srgbClr val="5F6877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BEB974-16CE-4D52-96E3-83C8A54AA00B}"/>
              </a:ext>
            </a:extLst>
          </p:cNvPr>
          <p:cNvSpPr>
            <a:spLocks noGrp="1"/>
          </p:cNvSpPr>
          <p:nvPr/>
        </p:nvSpPr>
        <p:spPr>
          <a:xfrm>
            <a:off x="4533900" y="3790950"/>
            <a:ext cx="278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Transcript accumulation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3EB0F7-B914-4E1F-B19A-572FE7F6E57C}"/>
              </a:ext>
            </a:extLst>
          </p:cNvPr>
          <p:cNvSpPr>
            <a:spLocks noGrp="1"/>
          </p:cNvSpPr>
          <p:nvPr/>
        </p:nvSpPr>
        <p:spPr>
          <a:xfrm>
            <a:off x="4533900" y="4076700"/>
            <a:ext cx="27813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Partial revisions after pauses append to committed transcript instead of wiping earlier speech.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685CC6-073B-4BAB-9775-8B30B8CBB61F}"/>
              </a:ext>
            </a:extLst>
          </p:cNvPr>
          <p:cNvSpPr>
            <a:spLocks noGrp="1"/>
          </p:cNvSpPr>
          <p:nvPr/>
        </p:nvSpPr>
        <p:spPr>
          <a:xfrm>
            <a:off x="8077200" y="3695700"/>
            <a:ext cx="3048000" cy="1104900"/>
          </a:xfrm>
          <a:prstGeom prst="rect">
            <a:avLst/>
          </a:prstGeom>
          <a:solidFill>
            <a:srgbClr val="F7D9D7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00CCD0-5C25-4950-B8A6-AF7228427B33}"/>
              </a:ext>
            </a:extLst>
          </p:cNvPr>
          <p:cNvSpPr>
            <a:spLocks noGrp="1"/>
          </p:cNvSpPr>
          <p:nvPr/>
        </p:nvSpPr>
        <p:spPr>
          <a:xfrm>
            <a:off x="8210550" y="3790950"/>
            <a:ext cx="278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Observability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427C71-A58B-4DB3-96E1-71EE93F5185A}"/>
              </a:ext>
            </a:extLst>
          </p:cNvPr>
          <p:cNvSpPr>
            <a:spLocks noGrp="1"/>
          </p:cNvSpPr>
          <p:nvPr/>
        </p:nvSpPr>
        <p:spPr>
          <a:xfrm>
            <a:off x="8210550" y="4076700"/>
            <a:ext cx="27813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TTFS, final latency, RTF, privacy mode, audio session, recognizer capability, success/error.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996EC7-A49D-4977-B9F4-D6D43C031242}"/>
              </a:ext>
            </a:extLst>
          </p:cNvPr>
          <p:cNvSpPr>
            <a:spLocks noGrp="1"/>
          </p:cNvSpPr>
          <p:nvPr/>
        </p:nvSpPr>
        <p:spPr>
          <a:xfrm>
            <a:off x="1676400" y="5467350"/>
            <a:ext cx="8839200" cy="438150"/>
          </a:xfrm>
          <a:prstGeom prst="rect">
            <a:avLst/>
          </a:prstGeom>
          <a:solidFill>
            <a:srgbClr val="FBF8F1"/>
          </a:solidFill>
          <a:ln w="9525">
            <a:solidFill>
              <a:srgbClr val="D8D0C2"/>
            </a:solidFill>
            <a:prstDash val="solid"/>
          </a:ln>
        </p:spPr>
        <p:txBody>
          <a:bodyPr lIns="114300" tIns="95250" rIns="114300" bIns="95250" anchor="t"/>
          <a:lstStyle/>
          <a:p>
            <a:pPr algn="l">
              <a:defRPr sz="90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This is a measured configuration improvement. It does not claim Apple model fine-tuning, custom denoising, or guaranteed offline recognition.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CBBA3F-30CE-452D-90BC-7A4FCD9B4B0F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69C839-983F-4135-8B11-0E571EA8DE00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Sources: phase-3 doc and Native ASR Phase 3 types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07C368-FF7D-4879-902C-EC3FE5285844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67658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58981EF-F164-40AE-BC31-81BA2679FBDB}"/>
              </a:ext>
            </a:extLst>
          </p:cNvPr>
          <p:cNvSpPr>
            <a:spLocks noGrp="1"/>
          </p:cNvSpPr>
          <p:nvPr/>
        </p:nvSpPr>
        <p:spPr>
          <a:xfrm>
            <a:off x="-40727" y="0"/>
            <a:ext cx="12232727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5927AB-D18A-46F9-9F25-D0061FFD11B2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 sz="1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4CB2A0-EB64-4E10-9D95-27A0CAC3D121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PHASE 4 PURPOSE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4815DA-F1B6-4EDC-AE65-3D88D7912746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Phase 4 begins the transition from transcript to General Task Form draft.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2042A6-73E1-4954-8047-2E14E44C11C3}"/>
              </a:ext>
            </a:extLst>
          </p:cNvPr>
          <p:cNvSpPr>
            <a:spLocks noGrp="1"/>
          </p:cNvSpPr>
          <p:nvPr/>
        </p:nvSpPr>
        <p:spPr>
          <a:xfrm>
            <a:off x="990599" y="2266950"/>
            <a:ext cx="5065989" cy="1066800"/>
          </a:xfrm>
          <a:prstGeom prst="rect">
            <a:avLst/>
          </a:prstGeom>
          <a:solidFill>
            <a:srgbClr val="E5F3EF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FI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9E4800-1318-4C74-AAE5-2B87F6EB57E2}"/>
              </a:ext>
            </a:extLst>
          </p:cNvPr>
          <p:cNvSpPr>
            <a:spLocks noGrp="1"/>
          </p:cNvSpPr>
          <p:nvPr/>
        </p:nvSpPr>
        <p:spPr>
          <a:xfrm>
            <a:off x="1123950" y="2362200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lang="en-US" sz="1400" b="1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Phase Objective</a:t>
            </a:r>
            <a:endParaRPr sz="1400" b="1" dirty="0">
              <a:solidFill>
                <a:srgbClr val="14213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56A5A6-4751-4559-9EA0-B44FB9E4B0B2}"/>
              </a:ext>
            </a:extLst>
          </p:cNvPr>
          <p:cNvSpPr>
            <a:spLocks noGrp="1"/>
          </p:cNvSpPr>
          <p:nvPr/>
        </p:nvSpPr>
        <p:spPr>
          <a:xfrm>
            <a:off x="1123949" y="2647950"/>
            <a:ext cx="4583167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5F6877"/>
                </a:solidFill>
                <a:latin typeface="Aptos"/>
                <a:ea typeface="Aptos"/>
                <a:cs typeface="Aptos"/>
              </a:rPr>
              <a:t>Creates a partial Congrid-style General Task Form draft from transcript, local reference data, and a controlled local LLM.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C34078-C851-4073-9ACF-C2E1CC2BDB09}"/>
              </a:ext>
            </a:extLst>
          </p:cNvPr>
          <p:cNvSpPr>
            <a:spLocks noGrp="1"/>
          </p:cNvSpPr>
          <p:nvPr/>
        </p:nvSpPr>
        <p:spPr>
          <a:xfrm>
            <a:off x="6718745" y="2266950"/>
            <a:ext cx="4811099" cy="1066800"/>
          </a:xfrm>
          <a:prstGeom prst="rect">
            <a:avLst/>
          </a:prstGeom>
          <a:solidFill>
            <a:srgbClr val="E7EEF8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FI" sz="1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BEE05E-04E2-48FB-BF4A-3CDDE6723817}"/>
              </a:ext>
            </a:extLst>
          </p:cNvPr>
          <p:cNvSpPr>
            <a:spLocks noGrp="1"/>
          </p:cNvSpPr>
          <p:nvPr/>
        </p:nvSpPr>
        <p:spPr>
          <a:xfrm>
            <a:off x="6852096" y="2362200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User role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8B000E-05F1-4539-AECB-02E0D62E36D0}"/>
              </a:ext>
            </a:extLst>
          </p:cNvPr>
          <p:cNvSpPr>
            <a:spLocks noGrp="1"/>
          </p:cNvSpPr>
          <p:nvPr/>
        </p:nvSpPr>
        <p:spPr>
          <a:xfrm>
            <a:off x="6852095" y="2647950"/>
            <a:ext cx="4103621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5F6877"/>
                </a:solidFill>
                <a:latin typeface="Aptos"/>
                <a:ea typeface="Aptos"/>
                <a:cs typeface="Aptos"/>
              </a:rPr>
              <a:t>The user reviews, edits, confirms, or rejects values before any future final form flow.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500D9A-F090-410E-982A-C4643804D7E3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 sz="14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A77E0E-DCF3-4D69-9D24-E002E5530CF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endParaRPr sz="1400" b="0" dirty="0">
              <a:solidFill>
                <a:srgbClr val="5F687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760AFE-4E88-4B18-B04A-4751BCFAFA1E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06806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E6112268-2FDD-4749-A577-F3BF2DDB05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531DD5-186B-4825-8244-C675E2EDCC62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57150" cy="2095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C170B0-4EEC-4A41-8BD2-6CFE1E15B564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PHASE 4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E27C3E-D403-4A9C-9034-36621F651893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LLM suggests, the validator decides, and the user confirms.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E51587-8DD3-41D0-A4A3-0B17E17F0720}"/>
              </a:ext>
            </a:extLst>
          </p:cNvPr>
          <p:cNvSpPr>
            <a:spLocks noGrp="1"/>
          </p:cNvSpPr>
          <p:nvPr/>
        </p:nvSpPr>
        <p:spPr>
          <a:xfrm>
            <a:off x="514350" y="1962150"/>
            <a:ext cx="1733550" cy="74295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C588C3-BDF9-423C-B1FC-35EBA4A62DE4}"/>
              </a:ext>
            </a:extLst>
          </p:cNvPr>
          <p:cNvSpPr>
            <a:spLocks noGrp="1"/>
          </p:cNvSpPr>
          <p:nvPr/>
        </p:nvSpPr>
        <p:spPr>
          <a:xfrm>
            <a:off x="647700" y="2057400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3 transcript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223F76-B2AE-4D4D-84C3-0989BF8F2D32}"/>
              </a:ext>
            </a:extLst>
          </p:cNvPr>
          <p:cNvSpPr>
            <a:spLocks noGrp="1"/>
          </p:cNvSpPr>
          <p:nvPr/>
        </p:nvSpPr>
        <p:spPr>
          <a:xfrm>
            <a:off x="647700" y="234315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raw or improved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D0B19D-61F1-41AA-A5E3-A66D546208C0}"/>
              </a:ext>
            </a:extLst>
          </p:cNvPr>
          <p:cNvSpPr>
            <a:spLocks noGrp="1"/>
          </p:cNvSpPr>
          <p:nvPr/>
        </p:nvSpPr>
        <p:spPr>
          <a:xfrm>
            <a:off x="2286000" y="2333625"/>
            <a:ext cx="323850" cy="14288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C45221-814D-4B97-9B3D-2F60CDF2A083}"/>
              </a:ext>
            </a:extLst>
          </p:cNvPr>
          <p:cNvSpPr>
            <a:spLocks noGrp="1"/>
          </p:cNvSpPr>
          <p:nvPr/>
        </p:nvSpPr>
        <p:spPr>
          <a:xfrm>
            <a:off x="2590800" y="222885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0E307-9963-4D29-9D9B-6721002E3496}"/>
              </a:ext>
            </a:extLst>
          </p:cNvPr>
          <p:cNvSpPr>
            <a:spLocks noGrp="1"/>
          </p:cNvSpPr>
          <p:nvPr/>
        </p:nvSpPr>
        <p:spPr>
          <a:xfrm>
            <a:off x="2781300" y="1962150"/>
            <a:ext cx="1733550" cy="74295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87E01C-635C-4AF5-AD0D-22FB0D263D9B}"/>
              </a:ext>
            </a:extLst>
          </p:cNvPr>
          <p:cNvSpPr>
            <a:spLocks noGrp="1"/>
          </p:cNvSpPr>
          <p:nvPr/>
        </p:nvSpPr>
        <p:spPr>
          <a:xfrm>
            <a:off x="2914650" y="2057400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Transcript prep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5F26B1-DAB2-4F5E-98CC-2B372E32C0B7}"/>
              </a:ext>
            </a:extLst>
          </p:cNvPr>
          <p:cNvSpPr>
            <a:spLocks noGrp="1"/>
          </p:cNvSpPr>
          <p:nvPr/>
        </p:nvSpPr>
        <p:spPr>
          <a:xfrm>
            <a:off x="2914650" y="234315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trim/select source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07F3CD-FC86-48FA-A4A4-2890E1C289B2}"/>
              </a:ext>
            </a:extLst>
          </p:cNvPr>
          <p:cNvSpPr>
            <a:spLocks noGrp="1"/>
          </p:cNvSpPr>
          <p:nvPr/>
        </p:nvSpPr>
        <p:spPr>
          <a:xfrm>
            <a:off x="4552950" y="2333625"/>
            <a:ext cx="323850" cy="14288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0B1EF1-8F56-4800-BD9C-9AFD6E51A4A1}"/>
              </a:ext>
            </a:extLst>
          </p:cNvPr>
          <p:cNvSpPr>
            <a:spLocks noGrp="1"/>
          </p:cNvSpPr>
          <p:nvPr/>
        </p:nvSpPr>
        <p:spPr>
          <a:xfrm>
            <a:off x="4857750" y="222885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7458AA-CBC3-40EB-A161-D181F2F09E20}"/>
              </a:ext>
            </a:extLst>
          </p:cNvPr>
          <p:cNvSpPr>
            <a:spLocks noGrp="1"/>
          </p:cNvSpPr>
          <p:nvPr/>
        </p:nvSpPr>
        <p:spPr>
          <a:xfrm>
            <a:off x="5048250" y="1962150"/>
            <a:ext cx="1733550" cy="74295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62799B-F1C7-4A29-852C-AEB02786F461}"/>
              </a:ext>
            </a:extLst>
          </p:cNvPr>
          <p:cNvSpPr>
            <a:spLocks noGrp="1"/>
          </p:cNvSpPr>
          <p:nvPr/>
        </p:nvSpPr>
        <p:spPr>
          <a:xfrm>
            <a:off x="5181600" y="2057400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Reference data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C612E0-14B0-4DF5-B2EF-DDBD6BF10E93}"/>
              </a:ext>
            </a:extLst>
          </p:cNvPr>
          <p:cNvSpPr>
            <a:spLocks noGrp="1"/>
          </p:cNvSpPr>
          <p:nvPr/>
        </p:nvSpPr>
        <p:spPr>
          <a:xfrm>
            <a:off x="5181600" y="234315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companies, tags, actions, due dates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A66F39-6454-4801-83CA-1AEF1EDF1690}"/>
              </a:ext>
            </a:extLst>
          </p:cNvPr>
          <p:cNvSpPr>
            <a:spLocks noGrp="1"/>
          </p:cNvSpPr>
          <p:nvPr/>
        </p:nvSpPr>
        <p:spPr>
          <a:xfrm>
            <a:off x="6819900" y="2333625"/>
            <a:ext cx="323850" cy="14288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CBAFC0-B1D9-46B8-8C81-9D17C621949F}"/>
              </a:ext>
            </a:extLst>
          </p:cNvPr>
          <p:cNvSpPr>
            <a:spLocks noGrp="1"/>
          </p:cNvSpPr>
          <p:nvPr/>
        </p:nvSpPr>
        <p:spPr>
          <a:xfrm>
            <a:off x="7124700" y="222885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06690F-F292-4D39-8CFA-C34F465DB9DA}"/>
              </a:ext>
            </a:extLst>
          </p:cNvPr>
          <p:cNvSpPr>
            <a:spLocks noGrp="1"/>
          </p:cNvSpPr>
          <p:nvPr/>
        </p:nvSpPr>
        <p:spPr>
          <a:xfrm>
            <a:off x="7315200" y="1962150"/>
            <a:ext cx="1733550" cy="74295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1E89E8-1FE4-4E95-90A2-6B65EAAA8265}"/>
              </a:ext>
            </a:extLst>
          </p:cNvPr>
          <p:cNvSpPr>
            <a:spLocks noGrp="1"/>
          </p:cNvSpPr>
          <p:nvPr/>
        </p:nvSpPr>
        <p:spPr>
          <a:xfrm>
            <a:off x="7448550" y="2057400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Candidate resolver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DC9C61-0DBC-464D-9909-D93CB15727CF}"/>
              </a:ext>
            </a:extLst>
          </p:cNvPr>
          <p:cNvSpPr>
            <a:spLocks noGrp="1"/>
          </p:cNvSpPr>
          <p:nvPr/>
        </p:nvSpPr>
        <p:spPr>
          <a:xfrm>
            <a:off x="7448550" y="234315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local rule/responsibility matching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F65AC6-671A-4DF6-999D-9E3CF007CADC}"/>
              </a:ext>
            </a:extLst>
          </p:cNvPr>
          <p:cNvSpPr>
            <a:spLocks noGrp="1"/>
          </p:cNvSpPr>
          <p:nvPr/>
        </p:nvSpPr>
        <p:spPr>
          <a:xfrm>
            <a:off x="9086850" y="2333625"/>
            <a:ext cx="323850" cy="14288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3AE666-31E6-4429-858F-BAD1274B1D9E}"/>
              </a:ext>
            </a:extLst>
          </p:cNvPr>
          <p:cNvSpPr>
            <a:spLocks noGrp="1"/>
          </p:cNvSpPr>
          <p:nvPr/>
        </p:nvSpPr>
        <p:spPr>
          <a:xfrm>
            <a:off x="9391650" y="222885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63ED10-FC45-4604-B308-7809145B86D3}"/>
              </a:ext>
            </a:extLst>
          </p:cNvPr>
          <p:cNvSpPr>
            <a:spLocks noGrp="1"/>
          </p:cNvSpPr>
          <p:nvPr/>
        </p:nvSpPr>
        <p:spPr>
          <a:xfrm>
            <a:off x="9582150" y="1962150"/>
            <a:ext cx="1733550" cy="74295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E062FD-1995-47F5-BFBD-B8D2046225B7}"/>
              </a:ext>
            </a:extLst>
          </p:cNvPr>
          <p:cNvSpPr>
            <a:spLocks noGrp="1"/>
          </p:cNvSpPr>
          <p:nvPr/>
        </p:nvSpPr>
        <p:spPr>
          <a:xfrm>
            <a:off x="9715500" y="2057400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LLM input + prompt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15E7FE-7A6D-40E7-8DF3-5363032DAE94}"/>
              </a:ext>
            </a:extLst>
          </p:cNvPr>
          <p:cNvSpPr>
            <a:spLocks noGrp="1"/>
          </p:cNvSpPr>
          <p:nvPr/>
        </p:nvSpPr>
        <p:spPr>
          <a:xfrm>
            <a:off x="9715500" y="234315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allowed values + candidates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9FD51C-DCAB-4BAC-889E-AA3E65BFBC39}"/>
              </a:ext>
            </a:extLst>
          </p:cNvPr>
          <p:cNvSpPr>
            <a:spLocks noGrp="1"/>
          </p:cNvSpPr>
          <p:nvPr/>
        </p:nvSpPr>
        <p:spPr>
          <a:xfrm>
            <a:off x="514350" y="3829050"/>
            <a:ext cx="1733550" cy="742950"/>
          </a:xfrm>
          <a:prstGeom prst="rect">
            <a:avLst/>
          </a:prstGeom>
          <a:solidFill>
            <a:srgbClr val="0F172A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420C33-C4D0-4FAD-A36E-633EBA5A0DD3}"/>
              </a:ext>
            </a:extLst>
          </p:cNvPr>
          <p:cNvSpPr>
            <a:spLocks noGrp="1"/>
          </p:cNvSpPr>
          <p:nvPr/>
        </p:nvSpPr>
        <p:spPr>
          <a:xfrm>
            <a:off x="647700" y="3924300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Provider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2E4ABD-8AAB-46C8-B6A5-3356B887C84F}"/>
              </a:ext>
            </a:extLst>
          </p:cNvPr>
          <p:cNvSpPr>
            <a:spLocks noGrp="1"/>
          </p:cNvSpPr>
          <p:nvPr/>
        </p:nvSpPr>
        <p:spPr>
          <a:xfrm>
            <a:off x="647700" y="421005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mock or local Qwen GGUF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08A4D84-13F1-4C77-904E-DF88F32850DA}"/>
              </a:ext>
            </a:extLst>
          </p:cNvPr>
          <p:cNvSpPr>
            <a:spLocks noGrp="1"/>
          </p:cNvSpPr>
          <p:nvPr/>
        </p:nvSpPr>
        <p:spPr>
          <a:xfrm>
            <a:off x="2286000" y="4200525"/>
            <a:ext cx="323850" cy="14288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A90D4E-BB74-4089-9AF4-B489531ECC0C}"/>
              </a:ext>
            </a:extLst>
          </p:cNvPr>
          <p:cNvSpPr>
            <a:spLocks noGrp="1"/>
          </p:cNvSpPr>
          <p:nvPr/>
        </p:nvSpPr>
        <p:spPr>
          <a:xfrm>
            <a:off x="2590800" y="409575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65B825-BCEF-4510-94C8-7BAB3C5EBF33}"/>
              </a:ext>
            </a:extLst>
          </p:cNvPr>
          <p:cNvSpPr>
            <a:spLocks noGrp="1"/>
          </p:cNvSpPr>
          <p:nvPr/>
        </p:nvSpPr>
        <p:spPr>
          <a:xfrm>
            <a:off x="2781300" y="3829050"/>
            <a:ext cx="1733550" cy="742950"/>
          </a:xfrm>
          <a:prstGeom prst="rect">
            <a:avLst/>
          </a:prstGeom>
          <a:solidFill>
            <a:srgbClr val="0F172A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4C0C41-FB17-4B0D-9EF0-1D909F08A577}"/>
              </a:ext>
            </a:extLst>
          </p:cNvPr>
          <p:cNvSpPr>
            <a:spLocks noGrp="1"/>
          </p:cNvSpPr>
          <p:nvPr/>
        </p:nvSpPr>
        <p:spPr>
          <a:xfrm>
            <a:off x="2914650" y="3924300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Raw JSON text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9728EDB-A5EB-4E03-BA34-FB446593024A}"/>
              </a:ext>
            </a:extLst>
          </p:cNvPr>
          <p:cNvSpPr>
            <a:spLocks noGrp="1"/>
          </p:cNvSpPr>
          <p:nvPr/>
        </p:nvSpPr>
        <p:spPr>
          <a:xfrm>
            <a:off x="2914650" y="421005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structured extraction output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919C2A9-4167-4FB6-B52D-00B61EEA490B}"/>
              </a:ext>
            </a:extLst>
          </p:cNvPr>
          <p:cNvSpPr>
            <a:spLocks noGrp="1"/>
          </p:cNvSpPr>
          <p:nvPr/>
        </p:nvSpPr>
        <p:spPr>
          <a:xfrm>
            <a:off x="4552950" y="4200525"/>
            <a:ext cx="323850" cy="14288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4E1855-09DA-4ED2-A335-46DE00782422}"/>
              </a:ext>
            </a:extLst>
          </p:cNvPr>
          <p:cNvSpPr>
            <a:spLocks noGrp="1"/>
          </p:cNvSpPr>
          <p:nvPr/>
        </p:nvSpPr>
        <p:spPr>
          <a:xfrm>
            <a:off x="4857750" y="409575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8A9ED5-2BF2-438C-91B9-24769EAD3DFB}"/>
              </a:ext>
            </a:extLst>
          </p:cNvPr>
          <p:cNvSpPr>
            <a:spLocks noGrp="1"/>
          </p:cNvSpPr>
          <p:nvPr/>
        </p:nvSpPr>
        <p:spPr>
          <a:xfrm>
            <a:off x="5048250" y="3829050"/>
            <a:ext cx="1733550" cy="742950"/>
          </a:xfrm>
          <a:prstGeom prst="rect">
            <a:avLst/>
          </a:prstGeom>
          <a:solidFill>
            <a:srgbClr val="0F172A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BE6A1F4-BB99-496C-8B5A-8429CB9E8D0A}"/>
              </a:ext>
            </a:extLst>
          </p:cNvPr>
          <p:cNvSpPr>
            <a:spLocks noGrp="1"/>
          </p:cNvSpPr>
          <p:nvPr/>
        </p:nvSpPr>
        <p:spPr>
          <a:xfrm>
            <a:off x="5181600" y="3924300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Safe parser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366F60-65E7-4C30-B6EE-554689A0E3C4}"/>
              </a:ext>
            </a:extLst>
          </p:cNvPr>
          <p:cNvSpPr>
            <a:spLocks noGrp="1"/>
          </p:cNvSpPr>
          <p:nvPr/>
        </p:nvSpPr>
        <p:spPr>
          <a:xfrm>
            <a:off x="5181600" y="421005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fences, JSON, formId, fields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A54799-947B-4E6C-8CD5-CCD378E3C204}"/>
              </a:ext>
            </a:extLst>
          </p:cNvPr>
          <p:cNvSpPr>
            <a:spLocks noGrp="1"/>
          </p:cNvSpPr>
          <p:nvPr/>
        </p:nvSpPr>
        <p:spPr>
          <a:xfrm>
            <a:off x="6819900" y="4200525"/>
            <a:ext cx="323850" cy="14288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1785EF-10A5-43CB-982E-B7084F974EEF}"/>
              </a:ext>
            </a:extLst>
          </p:cNvPr>
          <p:cNvSpPr>
            <a:spLocks noGrp="1"/>
          </p:cNvSpPr>
          <p:nvPr/>
        </p:nvSpPr>
        <p:spPr>
          <a:xfrm>
            <a:off x="7124700" y="409575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C0C90E2-CF1B-426D-BCCB-398B639135DC}"/>
              </a:ext>
            </a:extLst>
          </p:cNvPr>
          <p:cNvSpPr>
            <a:spLocks noGrp="1"/>
          </p:cNvSpPr>
          <p:nvPr/>
        </p:nvSpPr>
        <p:spPr>
          <a:xfrm>
            <a:off x="7315200" y="3829050"/>
            <a:ext cx="1733550" cy="742950"/>
          </a:xfrm>
          <a:prstGeom prst="rect">
            <a:avLst/>
          </a:prstGeom>
          <a:solidFill>
            <a:srgbClr val="0F172A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7746A0-6941-4010-B8A3-9491B362204B}"/>
              </a:ext>
            </a:extLst>
          </p:cNvPr>
          <p:cNvSpPr>
            <a:spLocks noGrp="1"/>
          </p:cNvSpPr>
          <p:nvPr/>
        </p:nvSpPr>
        <p:spPr>
          <a:xfrm>
            <a:off x="7448550" y="3924300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Draft validator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5700254-5EC9-4252-BF09-EA59AAFC085C}"/>
              </a:ext>
            </a:extLst>
          </p:cNvPr>
          <p:cNvSpPr>
            <a:spLocks noGrp="1"/>
          </p:cNvSpPr>
          <p:nvPr/>
        </p:nvSpPr>
        <p:spPr>
          <a:xfrm>
            <a:off x="7448550" y="421005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allowed values only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2E8126F-4718-4A5F-B143-CAA3753EDDE6}"/>
              </a:ext>
            </a:extLst>
          </p:cNvPr>
          <p:cNvSpPr>
            <a:spLocks noGrp="1"/>
          </p:cNvSpPr>
          <p:nvPr/>
        </p:nvSpPr>
        <p:spPr>
          <a:xfrm>
            <a:off x="9086850" y="4200525"/>
            <a:ext cx="323850" cy="14288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36A4F05-AE4C-4AF7-879A-41956E6B1678}"/>
              </a:ext>
            </a:extLst>
          </p:cNvPr>
          <p:cNvSpPr>
            <a:spLocks noGrp="1"/>
          </p:cNvSpPr>
          <p:nvPr/>
        </p:nvSpPr>
        <p:spPr>
          <a:xfrm>
            <a:off x="9391650" y="409575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B31FC2D-CB7C-4E29-915A-2A804DC9C50A}"/>
              </a:ext>
            </a:extLst>
          </p:cNvPr>
          <p:cNvSpPr>
            <a:spLocks noGrp="1"/>
          </p:cNvSpPr>
          <p:nvPr/>
        </p:nvSpPr>
        <p:spPr>
          <a:xfrm>
            <a:off x="9582150" y="3829050"/>
            <a:ext cx="1733550" cy="742950"/>
          </a:xfrm>
          <a:prstGeom prst="rect">
            <a:avLst/>
          </a:prstGeom>
          <a:solidFill>
            <a:srgbClr val="0F172A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5EC9A2F-926F-4678-BB55-2E0836EFD563}"/>
              </a:ext>
            </a:extLst>
          </p:cNvPr>
          <p:cNvSpPr>
            <a:spLocks noGrp="1"/>
          </p:cNvSpPr>
          <p:nvPr/>
        </p:nvSpPr>
        <p:spPr>
          <a:xfrm>
            <a:off x="9715500" y="3924300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 + UI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E9C51B9-20D9-4C25-BB11-DDC08E85F673}"/>
              </a:ext>
            </a:extLst>
          </p:cNvPr>
          <p:cNvSpPr>
            <a:spLocks noGrp="1"/>
          </p:cNvSpPr>
          <p:nvPr/>
        </p:nvSpPr>
        <p:spPr>
          <a:xfrm>
            <a:off x="9715500" y="421005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draft, review suggestions, CSV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A4FC0F1-4BB1-43D7-8A84-DA4D0BDE1C04}"/>
              </a:ext>
            </a:extLst>
          </p:cNvPr>
          <p:cNvSpPr>
            <a:spLocks noGrp="1"/>
          </p:cNvSpPr>
          <p:nvPr/>
        </p:nvSpPr>
        <p:spPr>
          <a:xfrm>
            <a:off x="8134350" y="30289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controlled JSON extraction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49F8AA2-53D0-43F6-886A-84A0B03451D9}"/>
              </a:ext>
            </a:extLst>
          </p:cNvPr>
          <p:cNvSpPr>
            <a:spLocks noGrp="1"/>
          </p:cNvSpPr>
          <p:nvPr/>
        </p:nvSpPr>
        <p:spPr>
          <a:xfrm>
            <a:off x="9010650" y="2705100"/>
            <a:ext cx="14288" cy="112395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81A2BAB-3477-4AB9-A3B6-E0F2A8928E4B}"/>
              </a:ext>
            </a:extLst>
          </p:cNvPr>
          <p:cNvSpPr>
            <a:spLocks noGrp="1"/>
          </p:cNvSpPr>
          <p:nvPr/>
        </p:nvSpPr>
        <p:spPr>
          <a:xfrm>
            <a:off x="3429000" y="5334000"/>
            <a:ext cx="533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v1 safety boundary: no unsupported values enter final fields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06DA79F-7A4F-467A-861B-2E0D418C8884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B19E322-3BF0-4F65-A5DF-2685DBB877CB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Sources: phase-4 complete technical report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F487171-C146-464F-B00D-FB309570F6A3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67266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0FFA4C80-FE82-49B7-982F-2779ABC226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C8C8EA-C689-42AC-A516-2857CB3F7BCB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DCD038-66D6-447C-A4BA-A8480B5DB91A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PHASE 4 LOCAL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9C9E66-6609-4E20-B693-D1C658CDB2B8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Qwen2.5 1.5B Instruct Q4_K_M is the first practical local extraction model.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D9C6BF-88EA-4A0E-9EEC-4E6B2006BA44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2381250" cy="1066800"/>
          </a:xfrm>
          <a:prstGeom prst="rect">
            <a:avLst/>
          </a:prstGeom>
          <a:solidFill>
            <a:srgbClr val="EDE4F8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EF23D9-9298-47D4-AF3A-002DC27D65AE}"/>
              </a:ext>
            </a:extLst>
          </p:cNvPr>
          <p:cNvSpPr>
            <a:spLocks noGrp="1"/>
          </p:cNvSpPr>
          <p:nvPr/>
        </p:nvSpPr>
        <p:spPr>
          <a:xfrm>
            <a:off x="838200" y="217170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Selected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4EC9D6-DF12-4378-BBF2-7F1BAEE91FE8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2114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Qwen2.5-1.5B-Instruct-GGUF</a:t>
            </a:r>
          </a:p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Q4_K_M quantization</a:t>
            </a:r>
          </a:p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GGUF format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2701D2-3059-4F38-8129-B0BAC05D5750}"/>
              </a:ext>
            </a:extLst>
          </p:cNvPr>
          <p:cNvSpPr>
            <a:spLocks noGrp="1"/>
          </p:cNvSpPr>
          <p:nvPr/>
        </p:nvSpPr>
        <p:spPr>
          <a:xfrm>
            <a:off x="3714750" y="2076450"/>
            <a:ext cx="2381250" cy="1066800"/>
          </a:xfrm>
          <a:prstGeom prst="rect">
            <a:avLst/>
          </a:prstGeom>
          <a:solidFill>
            <a:srgbClr val="E7EEF8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2BE41C-9034-4371-BEDA-B5474A90A52C}"/>
              </a:ext>
            </a:extLst>
          </p:cNvPr>
          <p:cNvSpPr>
            <a:spLocks noGrp="1"/>
          </p:cNvSpPr>
          <p:nvPr/>
        </p:nvSpPr>
        <p:spPr>
          <a:xfrm>
            <a:off x="3848100" y="217170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Runtime target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076D30-47F5-48CC-B7D8-CB04D2C3732F}"/>
              </a:ext>
            </a:extLst>
          </p:cNvPr>
          <p:cNvSpPr>
            <a:spLocks noGrp="1"/>
          </p:cNvSpPr>
          <p:nvPr/>
        </p:nvSpPr>
        <p:spPr>
          <a:xfrm>
            <a:off x="3848100" y="2457450"/>
            <a:ext cx="2114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llama.rn binding to llama.cpp-compatible local runtime inside custom Expo dev build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F5D3E9-3FBE-4401-8A1E-2F87A452D327}"/>
              </a:ext>
            </a:extLst>
          </p:cNvPr>
          <p:cNvSpPr>
            <a:spLocks noGrp="1"/>
          </p:cNvSpPr>
          <p:nvPr/>
        </p:nvSpPr>
        <p:spPr>
          <a:xfrm>
            <a:off x="6724650" y="2076450"/>
            <a:ext cx="2381250" cy="1066800"/>
          </a:xfrm>
          <a:prstGeom prst="rect">
            <a:avLst/>
          </a:prstGeom>
          <a:solidFill>
            <a:srgbClr val="E5F3EF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32DB9B-22F2-4598-A08E-ACF3E8446E5D}"/>
              </a:ext>
            </a:extLst>
          </p:cNvPr>
          <p:cNvSpPr>
            <a:spLocks noGrp="1"/>
          </p:cNvSpPr>
          <p:nvPr/>
        </p:nvSpPr>
        <p:spPr>
          <a:xfrm>
            <a:off x="6858000" y="217170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Model storage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5A42C9-E970-4C1C-B4C7-458AF5606AC9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2114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&lt;documentDirectory&gt;/models/llm/qwen2_5_1_5b_instruct_q4_k_m/*.gguf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20EEC6-F6F5-4ADF-A5B1-CD65E5546D8F}"/>
              </a:ext>
            </a:extLst>
          </p:cNvPr>
          <p:cNvSpPr>
            <a:spLocks noGrp="1"/>
          </p:cNvSpPr>
          <p:nvPr/>
        </p:nvSpPr>
        <p:spPr>
          <a:xfrm>
            <a:off x="9734550" y="2076450"/>
            <a:ext cx="1619250" cy="1066800"/>
          </a:xfrm>
          <a:prstGeom prst="rect">
            <a:avLst/>
          </a:prstGeom>
          <a:solidFill>
            <a:srgbClr val="F5E7C8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E6C4A6-4B9F-4B54-B813-A26953107FC4}"/>
              </a:ext>
            </a:extLst>
          </p:cNvPr>
          <p:cNvSpPr>
            <a:spLocks noGrp="1"/>
          </p:cNvSpPr>
          <p:nvPr/>
        </p:nvSpPr>
        <p:spPr>
          <a:xfrm>
            <a:off x="9867900" y="21717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Git policy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5567F4-680A-41F0-975B-AAE116A98F68}"/>
              </a:ext>
            </a:extLst>
          </p:cNvPr>
          <p:cNvSpPr>
            <a:spLocks noGrp="1"/>
          </p:cNvSpPr>
          <p:nvPr/>
        </p:nvSpPr>
        <p:spPr>
          <a:xfrm>
            <a:off x="9867900" y="2457450"/>
            <a:ext cx="1352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models/llm/**/*.gguf ignored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6BCEE3-346C-4F0F-A603-7D703B6BEB04}"/>
              </a:ext>
            </a:extLst>
          </p:cNvPr>
          <p:cNvSpPr>
            <a:spLocks noGrp="1"/>
          </p:cNvSpPr>
          <p:nvPr/>
        </p:nvSpPr>
        <p:spPr>
          <a:xfrm>
            <a:off x="3143250" y="2609850"/>
            <a:ext cx="381000" cy="14288"/>
          </a:xfrm>
          <a:prstGeom prst="rect">
            <a:avLst/>
          </a:prstGeom>
          <a:solidFill>
            <a:srgbClr val="5F6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5A5E74-DFE1-458C-A6B7-280C704BCDAC}"/>
              </a:ext>
            </a:extLst>
          </p:cNvPr>
          <p:cNvSpPr>
            <a:spLocks noGrp="1"/>
          </p:cNvSpPr>
          <p:nvPr/>
        </p:nvSpPr>
        <p:spPr>
          <a:xfrm>
            <a:off x="3505200" y="2505075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BD76F6-0760-4915-A85A-C3C58ADA650A}"/>
              </a:ext>
            </a:extLst>
          </p:cNvPr>
          <p:cNvSpPr>
            <a:spLocks noGrp="1"/>
          </p:cNvSpPr>
          <p:nvPr/>
        </p:nvSpPr>
        <p:spPr>
          <a:xfrm>
            <a:off x="6153150" y="2609850"/>
            <a:ext cx="381000" cy="14288"/>
          </a:xfrm>
          <a:prstGeom prst="rect">
            <a:avLst/>
          </a:prstGeom>
          <a:solidFill>
            <a:srgbClr val="5F6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196371-0630-440D-9B9E-96A2F7D28458}"/>
              </a:ext>
            </a:extLst>
          </p:cNvPr>
          <p:cNvSpPr>
            <a:spLocks noGrp="1"/>
          </p:cNvSpPr>
          <p:nvPr/>
        </p:nvSpPr>
        <p:spPr>
          <a:xfrm>
            <a:off x="6515100" y="2505075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4F8785-3935-4E0F-AC15-436FC22F44DE}"/>
              </a:ext>
            </a:extLst>
          </p:cNvPr>
          <p:cNvSpPr>
            <a:spLocks noGrp="1"/>
          </p:cNvSpPr>
          <p:nvPr/>
        </p:nvSpPr>
        <p:spPr>
          <a:xfrm>
            <a:off x="9163050" y="2609850"/>
            <a:ext cx="381000" cy="14288"/>
          </a:xfrm>
          <a:prstGeom prst="rect">
            <a:avLst/>
          </a:prstGeom>
          <a:solidFill>
            <a:srgbClr val="5F68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844CF1-88B9-4122-8E41-29ADFDE5DDA2}"/>
              </a:ext>
            </a:extLst>
          </p:cNvPr>
          <p:cNvSpPr>
            <a:spLocks noGrp="1"/>
          </p:cNvSpPr>
          <p:nvPr/>
        </p:nvSpPr>
        <p:spPr>
          <a:xfrm>
            <a:off x="9525000" y="2505075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06F9B8-68E4-4FC4-A261-949676705B3F}"/>
              </a:ext>
            </a:extLst>
          </p:cNvPr>
          <p:cNvSpPr>
            <a:spLocks noGrp="1"/>
          </p:cNvSpPr>
          <p:nvPr/>
        </p:nvSpPr>
        <p:spPr>
          <a:xfrm>
            <a:off x="1809750" y="4057650"/>
            <a:ext cx="8858250" cy="3429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C3BCB-5532-4A2E-91C2-4B08F098FDF2}"/>
              </a:ext>
            </a:extLst>
          </p:cNvPr>
          <p:cNvSpPr>
            <a:spLocks noGrp="1"/>
          </p:cNvSpPr>
          <p:nvPr/>
        </p:nvSpPr>
        <p:spPr>
          <a:xfrm>
            <a:off x="1905000" y="4143375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Runtime setting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F56204-2BD3-41C9-BC13-1BA63E87CAC7}"/>
              </a:ext>
            </a:extLst>
          </p:cNvPr>
          <p:cNvSpPr>
            <a:spLocks noGrp="1"/>
          </p:cNvSpPr>
          <p:nvPr/>
        </p:nvSpPr>
        <p:spPr>
          <a:xfrm>
            <a:off x="4000500" y="4143375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value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49C013-66DE-4F8E-9D76-2AD7084B7880}"/>
              </a:ext>
            </a:extLst>
          </p:cNvPr>
          <p:cNvSpPr>
            <a:spLocks noGrp="1"/>
          </p:cNvSpPr>
          <p:nvPr/>
        </p:nvSpPr>
        <p:spPr>
          <a:xfrm>
            <a:off x="5810250" y="4143375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Reason for baseline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1170C8-B37F-4C15-9312-A4D94AB3531B}"/>
              </a:ext>
            </a:extLst>
          </p:cNvPr>
          <p:cNvSpPr>
            <a:spLocks noGrp="1"/>
          </p:cNvSpPr>
          <p:nvPr/>
        </p:nvSpPr>
        <p:spPr>
          <a:xfrm>
            <a:off x="1809750" y="4400550"/>
            <a:ext cx="885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773A8D-8DF5-4545-94AC-3539A265E7F7}"/>
              </a:ext>
            </a:extLst>
          </p:cNvPr>
          <p:cNvSpPr>
            <a:spLocks noGrp="1"/>
          </p:cNvSpPr>
          <p:nvPr/>
        </p:nvSpPr>
        <p:spPr>
          <a:xfrm>
            <a:off x="1809750" y="4800600"/>
            <a:ext cx="885825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0AE8FC-97B7-40E5-B0BE-8358B9DD5488}"/>
              </a:ext>
            </a:extLst>
          </p:cNvPr>
          <p:cNvSpPr>
            <a:spLocks noGrp="1"/>
          </p:cNvSpPr>
          <p:nvPr/>
        </p:nvSpPr>
        <p:spPr>
          <a:xfrm>
            <a:off x="1905000" y="44958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n_ctx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6B2677-7E7A-495A-8D18-F32103C8AD77}"/>
              </a:ext>
            </a:extLst>
          </p:cNvPr>
          <p:cNvSpPr>
            <a:spLocks noGrp="1"/>
          </p:cNvSpPr>
          <p:nvPr/>
        </p:nvSpPr>
        <p:spPr>
          <a:xfrm>
            <a:off x="4000500" y="44958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4096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C024790-5DDF-43EF-93E3-D5EEE7B301E0}"/>
              </a:ext>
            </a:extLst>
          </p:cNvPr>
          <p:cNvSpPr>
            <a:spLocks noGrp="1"/>
          </p:cNvSpPr>
          <p:nvPr/>
        </p:nvSpPr>
        <p:spPr>
          <a:xfrm>
            <a:off x="5810250" y="449580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Enough prompt room for transcript, allowed values, candidates, policy, and JSON shape.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874CE5-8CAA-4140-888A-72DEA36A9A76}"/>
              </a:ext>
            </a:extLst>
          </p:cNvPr>
          <p:cNvSpPr>
            <a:spLocks noGrp="1"/>
          </p:cNvSpPr>
          <p:nvPr/>
        </p:nvSpPr>
        <p:spPr>
          <a:xfrm>
            <a:off x="1809750" y="4800600"/>
            <a:ext cx="885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5886F0-A9A4-49CB-893E-C1BE608C6279}"/>
              </a:ext>
            </a:extLst>
          </p:cNvPr>
          <p:cNvSpPr>
            <a:spLocks noGrp="1"/>
          </p:cNvSpPr>
          <p:nvPr/>
        </p:nvSpPr>
        <p:spPr>
          <a:xfrm>
            <a:off x="1809750" y="5200650"/>
            <a:ext cx="885825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0EABEA4-251A-4823-8780-914FCDC80549}"/>
              </a:ext>
            </a:extLst>
          </p:cNvPr>
          <p:cNvSpPr>
            <a:spLocks noGrp="1"/>
          </p:cNvSpPr>
          <p:nvPr/>
        </p:nvSpPr>
        <p:spPr>
          <a:xfrm>
            <a:off x="1905000" y="48958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n_gpu_layers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3BD64E8-8963-4334-A2FE-6825FFB03C06}"/>
              </a:ext>
            </a:extLst>
          </p:cNvPr>
          <p:cNvSpPr>
            <a:spLocks noGrp="1"/>
          </p:cNvSpPr>
          <p:nvPr/>
        </p:nvSpPr>
        <p:spPr>
          <a:xfrm>
            <a:off x="4000500" y="48958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99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87282B2-9228-4F72-B18B-C992BEDAA260}"/>
              </a:ext>
            </a:extLst>
          </p:cNvPr>
          <p:cNvSpPr>
            <a:spLocks noGrp="1"/>
          </p:cNvSpPr>
          <p:nvPr/>
        </p:nvSpPr>
        <p:spPr>
          <a:xfrm>
            <a:off x="5810250" y="489585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Use available device acceleration through llama.rn where supported.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F022F94-A531-4441-BECA-EFF8CA5EBD48}"/>
              </a:ext>
            </a:extLst>
          </p:cNvPr>
          <p:cNvSpPr>
            <a:spLocks noGrp="1"/>
          </p:cNvSpPr>
          <p:nvPr/>
        </p:nvSpPr>
        <p:spPr>
          <a:xfrm>
            <a:off x="1809750" y="5200650"/>
            <a:ext cx="885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04C4BC9-CF4A-47C5-A356-059C1D9F4E49}"/>
              </a:ext>
            </a:extLst>
          </p:cNvPr>
          <p:cNvSpPr>
            <a:spLocks noGrp="1"/>
          </p:cNvSpPr>
          <p:nvPr/>
        </p:nvSpPr>
        <p:spPr>
          <a:xfrm>
            <a:off x="1809750" y="5600700"/>
            <a:ext cx="885825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42F8BB-6DE4-47F6-9E71-405CD79CCD33}"/>
              </a:ext>
            </a:extLst>
          </p:cNvPr>
          <p:cNvSpPr>
            <a:spLocks noGrp="1"/>
          </p:cNvSpPr>
          <p:nvPr/>
        </p:nvSpPr>
        <p:spPr>
          <a:xfrm>
            <a:off x="1905000" y="52959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n_predict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AAC02D0-5EB4-495A-B449-81941F1AD05D}"/>
              </a:ext>
            </a:extLst>
          </p:cNvPr>
          <p:cNvSpPr>
            <a:spLocks noGrp="1"/>
          </p:cNvSpPr>
          <p:nvPr/>
        </p:nvSpPr>
        <p:spPr>
          <a:xfrm>
            <a:off x="4000500" y="52959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700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25E3412-329F-4342-A7D5-FDEA9B1FD1E6}"/>
              </a:ext>
            </a:extLst>
          </p:cNvPr>
          <p:cNvSpPr>
            <a:spLocks noGrp="1"/>
          </p:cNvSpPr>
          <p:nvPr/>
        </p:nvSpPr>
        <p:spPr>
          <a:xfrm>
            <a:off x="5810250" y="529590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Baseline cap before compact-output tuning.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3A9155D-4349-48EB-AE52-BB66203B011E}"/>
              </a:ext>
            </a:extLst>
          </p:cNvPr>
          <p:cNvSpPr>
            <a:spLocks noGrp="1"/>
          </p:cNvSpPr>
          <p:nvPr/>
        </p:nvSpPr>
        <p:spPr>
          <a:xfrm>
            <a:off x="1809750" y="5600700"/>
            <a:ext cx="885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92F129F-0A88-41F0-8957-FC522B5CF36E}"/>
              </a:ext>
            </a:extLst>
          </p:cNvPr>
          <p:cNvSpPr>
            <a:spLocks noGrp="1"/>
          </p:cNvSpPr>
          <p:nvPr/>
        </p:nvSpPr>
        <p:spPr>
          <a:xfrm>
            <a:off x="1809750" y="6000750"/>
            <a:ext cx="885825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5CCA4DB-2D13-4A53-8C33-8BE08179C987}"/>
              </a:ext>
            </a:extLst>
          </p:cNvPr>
          <p:cNvSpPr>
            <a:spLocks noGrp="1"/>
          </p:cNvSpPr>
          <p:nvPr/>
        </p:nvSpPr>
        <p:spPr>
          <a:xfrm>
            <a:off x="1905000" y="56959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temperature/top_p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94712DB-82D8-427E-8CEF-2338936D082D}"/>
              </a:ext>
            </a:extLst>
          </p:cNvPr>
          <p:cNvSpPr>
            <a:spLocks noGrp="1"/>
          </p:cNvSpPr>
          <p:nvPr/>
        </p:nvSpPr>
        <p:spPr>
          <a:xfrm>
            <a:off x="4000500" y="56959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0 / 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BF9DB6-DA21-4DB9-9E68-F8662E622326}"/>
              </a:ext>
            </a:extLst>
          </p:cNvPr>
          <p:cNvSpPr>
            <a:spLocks noGrp="1"/>
          </p:cNvSpPr>
          <p:nvPr/>
        </p:nvSpPr>
        <p:spPr>
          <a:xfrm>
            <a:off x="5810250" y="569595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Deterministic structured extraction.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D922AB4-8AB0-48DE-B8E2-4E4D92A54D80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F6C7EBD-A7DF-49CF-8880-500B66473989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Sources: phase4ModelConfig.ts, phase4LocalLLMProvider.ts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89ECE3D-A2F3-414D-8B5E-60590DB4533C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86192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A96652A-7E67-4E77-9661-70EC6C6036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A724A1-3D77-4B06-BE46-DBB1E12DF34F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41A8EF-AD0E-4E9F-BB28-AEAEC5CFC990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PHASE 4 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F9ED39-7B55-4B76-84B7-3F8B9DEEF2C2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Validation rebuilds the final draft from local allowed data, not from model trust.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0F0ED8-9C4A-43C1-BDC2-317D0B5F9545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30289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F30B6A-B240-41FD-ACBF-7108911CF7CB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Company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6D2050-1FF8-4527-AB40-69B5A3B40F3E}"/>
              </a:ext>
            </a:extLst>
          </p:cNvPr>
          <p:cNvSpPr>
            <a:spLocks noGrp="1"/>
          </p:cNvSpPr>
          <p:nvPr/>
        </p:nvSpPr>
        <p:spPr>
          <a:xfrm>
            <a:off x="876300" y="2419350"/>
            <a:ext cx="2762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Only allowed local company IDs/names enter final field. Invented names become review context.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51F1FD-2852-49C1-B0B9-22B271B86A10}"/>
              </a:ext>
            </a:extLst>
          </p:cNvPr>
          <p:cNvSpPr>
            <a:spLocks noGrp="1"/>
          </p:cNvSpPr>
          <p:nvPr/>
        </p:nvSpPr>
        <p:spPr>
          <a:xfrm>
            <a:off x="4419600" y="2038350"/>
            <a:ext cx="30289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0E5795-7CFC-472C-9D66-95C125CE7CAC}"/>
              </a:ext>
            </a:extLst>
          </p:cNvPr>
          <p:cNvSpPr>
            <a:spLocks noGrp="1"/>
          </p:cNvSpPr>
          <p:nvPr/>
        </p:nvSpPr>
        <p:spPr>
          <a:xfrm>
            <a:off x="4552950" y="213360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ABEC55-366B-41C5-A7FE-1C7577DBF982}"/>
              </a:ext>
            </a:extLst>
          </p:cNvPr>
          <p:cNvSpPr>
            <a:spLocks noGrp="1"/>
          </p:cNvSpPr>
          <p:nvPr/>
        </p:nvSpPr>
        <p:spPr>
          <a:xfrm>
            <a:off x="4552950" y="2419350"/>
            <a:ext cx="2762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Filled only when spoken and allowed or candidate-derived; generic bathroom is rejected.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F0D840-4ADA-4434-B5CD-B35BC39B3A1C}"/>
              </a:ext>
            </a:extLst>
          </p:cNvPr>
          <p:cNvSpPr>
            <a:spLocks noGrp="1"/>
          </p:cNvSpPr>
          <p:nvPr/>
        </p:nvSpPr>
        <p:spPr>
          <a:xfrm>
            <a:off x="8096250" y="2038350"/>
            <a:ext cx="30289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987420-39B0-4AED-B056-E7A01270DCF0}"/>
              </a:ext>
            </a:extLst>
          </p:cNvPr>
          <p:cNvSpPr>
            <a:spLocks noGrp="1"/>
          </p:cNvSpPr>
          <p:nvPr/>
        </p:nvSpPr>
        <p:spPr>
          <a:xfrm>
            <a:off x="8229600" y="213360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B87953-788C-4A1A-B6F0-D3CC4F7DBF79}"/>
              </a:ext>
            </a:extLst>
          </p:cNvPr>
          <p:cNvSpPr>
            <a:spLocks noGrp="1"/>
          </p:cNvSpPr>
          <p:nvPr/>
        </p:nvSpPr>
        <p:spPr>
          <a:xfrm>
            <a:off x="8229600" y="2419350"/>
            <a:ext cx="2762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Only configured required actions are written.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4B73DA-54C2-48FA-A0D1-6A34B8687CF3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3028950" cy="990600"/>
          </a:xfrm>
          <a:prstGeom prst="rect">
            <a:avLst/>
          </a:prstGeom>
          <a:solidFill>
            <a:srgbClr val="F5E7C8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61C980-B5F2-4FA8-8FCA-FD2A5583E3DA}"/>
              </a:ext>
            </a:extLst>
          </p:cNvPr>
          <p:cNvSpPr>
            <a:spLocks noGrp="1"/>
          </p:cNvSpPr>
          <p:nvPr/>
        </p:nvSpPr>
        <p:spPr>
          <a:xfrm>
            <a:off x="876300" y="361950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Due date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0E35AF-F82C-4D78-859D-0C71CDCB5863}"/>
              </a:ext>
            </a:extLst>
          </p:cNvPr>
          <p:cNvSpPr>
            <a:spLocks noGrp="1"/>
          </p:cNvSpPr>
          <p:nvPr/>
        </p:nvSpPr>
        <p:spPr>
          <a:xfrm>
            <a:off x="876300" y="3905250"/>
            <a:ext cx="2762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Only Now, +3 days, +7 days; tomorrow stays review-only.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8B54CB-D794-474D-AA77-0BF573B00ED5}"/>
              </a:ext>
            </a:extLst>
          </p:cNvPr>
          <p:cNvSpPr>
            <a:spLocks noGrp="1"/>
          </p:cNvSpPr>
          <p:nvPr/>
        </p:nvSpPr>
        <p:spPr>
          <a:xfrm>
            <a:off x="4419600" y="3524250"/>
            <a:ext cx="30289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314872-977A-4CD1-A0B2-DD00F428968D}"/>
              </a:ext>
            </a:extLst>
          </p:cNvPr>
          <p:cNvSpPr>
            <a:spLocks noGrp="1"/>
          </p:cNvSpPr>
          <p:nvPr/>
        </p:nvSpPr>
        <p:spPr>
          <a:xfrm>
            <a:off x="4552950" y="361950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Tags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FCE917-2329-4600-AFB4-1BFCE489C1D4}"/>
              </a:ext>
            </a:extLst>
          </p:cNvPr>
          <p:cNvSpPr>
            <a:spLocks noGrp="1"/>
          </p:cNvSpPr>
          <p:nvPr/>
        </p:nvSpPr>
        <p:spPr>
          <a:xfrm>
            <a:off x="4552950" y="3905250"/>
            <a:ext cx="2762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Allowed tags only; invented tags removed.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929C19-7217-4280-844A-16D5FA8028BD}"/>
              </a:ext>
            </a:extLst>
          </p:cNvPr>
          <p:cNvSpPr>
            <a:spLocks noGrp="1"/>
          </p:cNvSpPr>
          <p:nvPr/>
        </p:nvSpPr>
        <p:spPr>
          <a:xfrm>
            <a:off x="8096250" y="3524250"/>
            <a:ext cx="30289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95EDED-57EA-46D9-8757-CA153FDAE4A3}"/>
              </a:ext>
            </a:extLst>
          </p:cNvPr>
          <p:cNvSpPr>
            <a:spLocks noGrp="1"/>
          </p:cNvSpPr>
          <p:nvPr/>
        </p:nvSpPr>
        <p:spPr>
          <a:xfrm>
            <a:off x="8229600" y="361950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Fixed fields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BC8B19-9BB7-4141-B332-1E291FDA8B87}"/>
              </a:ext>
            </a:extLst>
          </p:cNvPr>
          <p:cNvSpPr>
            <a:spLocks noGrp="1"/>
          </p:cNvSpPr>
          <p:nvPr/>
        </p:nvSpPr>
        <p:spPr>
          <a:xfrm>
            <a:off x="8229600" y="3905250"/>
            <a:ext cx="2762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list=Hallo, marker manual, photos skipped, impacts not configured, notifications=false.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4D038A-F88C-48D5-A388-C0F70960343C}"/>
              </a:ext>
            </a:extLst>
          </p:cNvPr>
          <p:cNvSpPr>
            <a:spLocks noGrp="1"/>
          </p:cNvSpPr>
          <p:nvPr/>
        </p:nvSpPr>
        <p:spPr>
          <a:xfrm>
            <a:off x="1352550" y="5257800"/>
            <a:ext cx="9486900" cy="552450"/>
          </a:xfrm>
          <a:prstGeom prst="rect">
            <a:avLst/>
          </a:prstGeom>
          <a:solidFill>
            <a:srgbClr val="E5F3EF"/>
          </a:solidFill>
          <a:ln w="9525">
            <a:solidFill>
              <a:srgbClr val="0F766E"/>
            </a:solidFill>
            <a:prstDash val="solid"/>
          </a:ln>
        </p:spPr>
        <p:txBody>
          <a:bodyPr lIns="114300" tIns="95250" rIns="114300" bIns="95250" anchor="t"/>
          <a:lstStyle/>
          <a:p>
            <a:pPr algn="l">
              <a:defRPr sz="900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Example: if the transcript says 'gas connection tomorrow', the draft can suggest a plumbing company and Korjaus, but due date remains manual/null while 'tomorrow' is preserved in reviewSuggestions.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3FF908-9DC1-4E4D-9C0E-12317E999824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A19320-F88E-4C4D-A0DB-B112F8483CFD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877"/>
                </a:solidFill>
                <a:latin typeface="Aptos"/>
                <a:ea typeface="Aptos"/>
                <a:cs typeface="Aptos"/>
              </a:rPr>
              <a:t>Sources: phase4DraftValidator.ts, phase-4 complete technical report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7976D5-FD45-4FCC-A6A8-FEF249912364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F68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877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325459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2066</Words>
  <Application>Microsoft Macintosh PowerPoint</Application>
  <DocSecurity>0</DocSecurity>
  <PresentationFormat>Widescreen</PresentationFormat>
  <Paragraphs>353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Haseeb Ur Rehman</cp:lastModifiedBy>
  <cp:revision>2</cp:revision>
  <dcterms:created xsi:type="dcterms:W3CDTF">2026-05-22T10:13:33Z</dcterms:created>
  <dcterms:modified xsi:type="dcterms:W3CDTF">2026-05-22T10:41:03Z</dcterms:modified>
</cp:coreProperties>
</file>